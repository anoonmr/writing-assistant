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325880"/>
            <a:ext cx="103327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750"/>
                </a:solidFill>
                <a:latin typeface="Arial" panose="020B0604020202020204"/>
              </a:defRPr>
            </a:pPr>
            <a:r>
              <a:t>ACTIVITY 2</a:t>
            </a:r>
          </a:p>
          <a:p>
            <a:pPr>
              <a:defRPr sz="3200" b="1">
                <a:solidFill>
                  <a:srgbClr val="2D2D2D"/>
                </a:solidFill>
                <a:latin typeface="Arial" panose="020B0604020202020204"/>
              </a:defRPr>
            </a:pPr>
            <a:r>
              <a:t>Research Project Presentation</a:t>
            </a:r>
          </a:p>
          <a:p>
            <a:pPr>
              <a:defRPr sz="2300">
                <a:solidFill>
                  <a:srgbClr val="696969"/>
                </a:solidFill>
                <a:latin typeface="Arial" panose="020B0604020202020204"/>
              </a:defRPr>
            </a:pPr>
            <a:r>
              <a:t>NLP-Based Intelligent Writing Assistant:</a:t>
            </a:r>
            <a:br/>
            <a:r>
              <a:t>Autocorrect, Autocomplete, and POS-Aware Suggestions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2971800"/>
            <a:ext cx="804672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337560"/>
            <a:ext cx="7772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Arial" panose="020B0604020202020204"/>
              </a:defRPr>
            </a:pPr>
            <a:r>
              <a:t>Team Name: SyntaxSquad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rial" panose="020B0604020202020204"/>
              </a:defRPr>
            </a:pPr>
            <a:r>
              <a:t>Student Names and USNs: Anoon M R; [Member 2]; [Member 3]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rial" panose="020B0604020202020204"/>
              </a:defRPr>
            </a:pPr>
            <a:r>
              <a:t>Department of MCA | JAIN (Deemed-to-be University)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rial" panose="020B0604020202020204"/>
              </a:defRPr>
            </a:pPr>
            <a:r>
              <a:t>Faculty: Dr. Sharal Coelho | Date: [DD/MM/YYYY]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Introduction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96969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/>
              <a:buChar char="•"/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>Background: a writing assistant built from scratch in Python - spell correction, next-word prediction and POS-aware suggestions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>Problem: spell checkers ignore real error patterns; autocomplete ignores grammar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>Why it matters: email, messages and academic writing all suffer from context-blind corrections and ungrammatical suggestions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>Objectives: tokenizer, Noisy Channel spell corrector (learned confusion matrix, edit distance ≤ 2), bigram + trigram LM, HMM + Viterbi POS tagger, live Flask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96969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/>
              <a:buChar char="•"/>
              <a:defRPr sz="1700">
                <a:solidFill>
                  <a:srgbClr val="2D2D2D"/>
                </a:solidFill>
                <a:latin typeface="Arial" panose="020B0604020202020204"/>
              </a:defRPr>
            </a:pPr>
            <a:r>
              <a:rPr sz="1700">
                <a:solidFill>
                  <a:srgbClr val="2D2D2D"/>
                </a:solidFill>
                <a:latin typeface="Arial"/>
              </a:rPr>
              <a:t>Damerau (1964), CACM - ~80% of real typos are a single edit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700">
                <a:solidFill>
                  <a:srgbClr val="2D2D2D"/>
                </a:solidFill>
                <a:latin typeface="Arial" panose="020B0604020202020204"/>
              </a:defRPr>
            </a:pPr>
            <a:r>
              <a:rPr sz="1700">
                <a:solidFill>
                  <a:srgbClr val="2D2D2D"/>
                </a:solidFill>
                <a:latin typeface="Arial"/>
              </a:rPr>
              <a:t>Kernighan, Church &amp; Gale (1990), COLING - Noisy Channel spelling correction with learned confusion matrices (the basis of our spell corrector)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700">
                <a:solidFill>
                  <a:srgbClr val="2D2D2D"/>
                </a:solidFill>
                <a:latin typeface="Arial" panose="020B0604020202020204"/>
              </a:defRPr>
            </a:pPr>
            <a:r>
              <a:rPr sz="1700">
                <a:solidFill>
                  <a:srgbClr val="2D2D2D"/>
                </a:solidFill>
                <a:latin typeface="Arial"/>
              </a:rPr>
              <a:t>Church (1988), ANLP - HMM-style POS tagger on the Brown Corpus, 95-99% accuracy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700">
                <a:solidFill>
                  <a:srgbClr val="2D2D2D"/>
                </a:solidFill>
                <a:latin typeface="Arial" panose="020B0604020202020204"/>
              </a:defRPr>
            </a:pPr>
            <a:r>
              <a:rPr sz="1700">
                <a:solidFill>
                  <a:srgbClr val="2D2D2D"/>
                </a:solidFill>
                <a:latin typeface="Arial"/>
              </a:rPr>
              <a:t>Viterbi (1967), IEEE Trans. Info. Theory - the decoding algorithm our tagger uses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700">
                <a:solidFill>
                  <a:srgbClr val="2D2D2D"/>
                </a:solidFill>
                <a:latin typeface="Arial" panose="020B0604020202020204"/>
              </a:defRPr>
            </a:pPr>
            <a:r>
              <a:rPr sz="1700">
                <a:solidFill>
                  <a:srgbClr val="2D2D2D"/>
                </a:solidFill>
                <a:latin typeface="Arial"/>
              </a:rPr>
              <a:t>Chen &amp; Goodman (1999), CSL - smoothing survey; explains our perplexity results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700">
                <a:solidFill>
                  <a:srgbClr val="2D2D2D"/>
                </a:solidFill>
                <a:latin typeface="Arial" panose="020B0604020202020204"/>
              </a:defRPr>
            </a:pPr>
            <a:r>
              <a:rPr sz="1700">
                <a:solidFill>
                  <a:srgbClr val="2D2D2D"/>
                </a:solidFill>
                <a:latin typeface="Arial"/>
              </a:rPr>
              <a:t>Gap: these are usually studied in isolation - we let the HMM filter the N-gram LM's suggestions in real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96969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/>
              <a:buChar char="•"/>
              <a:defRPr sz="1700">
                <a:solidFill>
                  <a:srgbClr val="2D2D2D"/>
                </a:solidFill>
                <a:latin typeface="Arial" panose="020B0604020202020204"/>
              </a:defRPr>
            </a:pPr>
            <a:r>
              <a:rPr sz="1700">
                <a:solidFill>
                  <a:srgbClr val="2D2D2D"/>
                </a:solidFill>
                <a:latin typeface="Arial"/>
              </a:rPr>
              <a:t>Spell Corrector: candidates within edit distance 2, ranked by P(word) × P(typo | word); P(typo | word) learned from 12,356 real single-edit misspellings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700">
                <a:solidFill>
                  <a:srgbClr val="2D2D2D"/>
                </a:solidFill>
                <a:latin typeface="Arial" panose="020B0604020202020204"/>
              </a:defRPr>
            </a:pPr>
            <a:r>
              <a:rPr sz="1700">
                <a:solidFill>
                  <a:srgbClr val="2D2D2D"/>
                </a:solidFill>
                <a:latin typeface="Arial"/>
              </a:rPr>
              <a:t>N-Gram LM: trigram with back-off to bigram, Laplace smoothing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700">
                <a:solidFill>
                  <a:srgbClr val="2D2D2D"/>
                </a:solidFill>
                <a:latin typeface="Arial" panose="020B0604020202020204"/>
              </a:defRPr>
            </a:pPr>
            <a:r>
              <a:rPr sz="1700">
                <a:solidFill>
                  <a:srgbClr val="2D2D2D"/>
                </a:solidFill>
                <a:latin typeface="Arial"/>
              </a:rPr>
              <a:t>HMM POS Tagger: bigram HMM, Viterbi decoding, 10 Universal POS tags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700">
                <a:solidFill>
                  <a:srgbClr val="2D2D2D"/>
                </a:solidFill>
                <a:latin typeface="Arial" panose="020B0604020202020204"/>
              </a:defRPr>
            </a:pPr>
            <a:r>
              <a:rPr sz="1700">
                <a:solidFill>
                  <a:srgbClr val="2D2D2D"/>
                </a:solidFill>
                <a:latin typeface="Arial"/>
              </a:rPr>
              <a:t>POS-aware filter: keep only next-word candidates whose tag matches the tag the HMM expects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4</a:t>
            </a:r>
          </a:p>
        </p:txBody>
      </p:sp>
      <p:pic>
        <p:nvPicPr>
          <p:cNvPr id="8" name="Picture 7" descr="system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382386"/>
            <a:ext cx="10332720" cy="18422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Dataset &amp; 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96969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/>
              <a:buChar char="•"/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>Brown Corpus (NLTK): 54,286 cleaned sentences, 24,891-word vocabulary (freq ≥ 2)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>POS data: 54,270 Universal-tagset sentences, 10 tag classes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>Misspelling corpus (Norvig): 7,841 words, 38,218 real (correct, misspelling) pairs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>Preprocessing (Activity 1): lowercasing, punctuation stripping, tokenization, length filtering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>90% / 10% train/test split (seed 42) on all three datasets - every score is on unseen data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>Tools: Python 3.12, Flask 3.1.3, matplotlib - no GPU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Results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96969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/>
              <a:buChar char="•"/>
              <a:defRPr sz="1600">
                <a:solidFill>
                  <a:srgbClr val="2D2D2D"/>
                </a:solidFill>
                <a:latin typeface="Arial" panose="020B0604020202020204"/>
              </a:defRPr>
            </a:pPr>
            <a:r>
              <a:rPr sz="1600">
                <a:solidFill>
                  <a:srgbClr val="2D2D2D"/>
                </a:solidFill>
                <a:latin typeface="Arial"/>
              </a:rPr>
              <a:t>Real misspellings: 193 of 500 are 3+ edits away (out of reach by design); on the 307 within reach, accuracy is 61.9%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600">
                <a:solidFill>
                  <a:srgbClr val="2D2D2D"/>
                </a:solidFill>
                <a:latin typeface="Arial" panose="020B0604020202020204"/>
              </a:defRPr>
            </a:pPr>
            <a:r>
              <a:rPr sz="1600">
                <a:solidFill>
                  <a:srgbClr val="2D2D2D"/>
                </a:solidFill>
                <a:latin typeface="Arial"/>
              </a:rPr>
              <a:t>Trigram &gt; bigram perplexity: Laplace adds V ≈ 40K to every denominator, which swamps the sparse trigram counts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600">
                <a:solidFill>
                  <a:srgbClr val="2D2D2D"/>
                </a:solidFill>
                <a:latin typeface="Arial" panose="020B0604020202020204"/>
              </a:defRPr>
            </a:pPr>
            <a:r>
              <a:rPr sz="1600">
                <a:solidFill>
                  <a:srgbClr val="2D2D2D"/>
                </a:solidFill>
                <a:latin typeface="Arial"/>
              </a:rPr>
              <a:t>Every number reproduces with: python evaluate.py (fixed seed)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737360"/>
          <a:ext cx="10332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3383280"/>
              </a:tblGrid>
              <a:tr h="381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Metric (held-out test data)</a:t>
                      </a:r>
                    </a:p>
                  </a:txBody>
                  <a:tcPr>
                    <a:solidFill>
                      <a:srgbClr val="1F37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>
                    <a:solidFill>
                      <a:srgbClr val="1F375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rial"/>
                        </a:rPr>
                        <a:t>Spell Corrector top-1 accuracy - synthetic typos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rial"/>
                        </a:rPr>
                        <a:t>76.00% (152 / 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rial"/>
                        </a:rPr>
                        <a:t>Spell Corrector top-1 accuracy - real human misspellings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rial"/>
                        </a:rPr>
                        <a:t>38.00% (190 / 500)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rial"/>
                        </a:rPr>
                        <a:t>N-Gram LM bigram perplexity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rial"/>
                        </a:rPr>
                        <a:t>5595.97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rial"/>
                        </a:rPr>
                        <a:t>N-Gram LM trigram perplexity (with back-off)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rial"/>
                        </a:rPr>
                        <a:t>13641.36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rial"/>
                        </a:rPr>
                        <a:t>HMM POS Tagger word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rial"/>
                        </a:rPr>
                        <a:t>91.74% (8242 / 8984)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Confusion Matrix &amp;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96969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/>
              <a:buChar char="•"/>
              <a:defRPr sz="1600">
                <a:solidFill>
                  <a:srgbClr val="2D2D2D"/>
                </a:solidFill>
                <a:latin typeface="Arial" panose="020B0604020202020204"/>
              </a:defRPr>
            </a:pPr>
            <a:r>
              <a:rPr sz="1600">
                <a:solidFill>
                  <a:srgbClr val="2D2D2D"/>
                </a:solidFill>
                <a:latin typeface="Arial"/>
              </a:rPr>
              <a:t>Left: POS tagger confusion matrix (held-out set) - strongly diagonal; biggest confusions are NOUN → ADJ (83), DET (80), CONJ (72)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600">
                <a:solidFill>
                  <a:srgbClr val="2D2D2D"/>
                </a:solidFill>
                <a:latin typeface="Arial" panose="020B0604020202020204"/>
              </a:defRPr>
            </a:pPr>
            <a:r>
              <a:rPr sz="1600">
                <a:solidFill>
                  <a:srgbClr val="2D2D2D"/>
                </a:solidFill>
                <a:latin typeface="Arial"/>
              </a:rPr>
              <a:t>Right: live app - 3 typos fixed, every word tagged, suggestions filtered to the expected 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7</a:t>
            </a:r>
          </a:p>
        </p:txBody>
      </p:sp>
      <p:pic>
        <p:nvPicPr>
          <p:cNvPr id="9" name="Picture 8" descr="pos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59" y="2971800"/>
            <a:ext cx="3840480" cy="3291840"/>
          </a:xfrm>
          <a:prstGeom prst="rect">
            <a:avLst/>
          </a:prstGeom>
        </p:spPr>
      </p:pic>
      <p:pic>
        <p:nvPicPr>
          <p:cNvPr id="10" name="Picture 9" descr="app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007" y="2971800"/>
            <a:ext cx="321702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96969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/>
              <a:buChar char="•"/>
              <a:defRPr sz="1700">
                <a:solidFill>
                  <a:srgbClr val="2D2D2D"/>
                </a:solidFill>
                <a:latin typeface="Arial" panose="020B0604020202020204"/>
              </a:defRPr>
            </a:pPr>
            <a:r>
              <a:rPr sz="1700">
                <a:solidFill>
                  <a:srgbClr val="2D2D2D"/>
                </a:solidFill>
                <a:latin typeface="Arial"/>
              </a:rPr>
              <a:t>23 of 48 synthetic misses: a very common word 2 edits away beat the right word 1 edit away (haed → 'and', not 'head') - the cost of searching edit distance 2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700">
                <a:solidFill>
                  <a:srgbClr val="2D2D2D"/>
                </a:solidFill>
                <a:latin typeface="Arial" panose="020B0604020202020204"/>
              </a:defRPr>
            </a:pPr>
            <a:r>
              <a:rPr sz="1700">
                <a:solidFill>
                  <a:srgbClr val="2D2D2D"/>
                </a:solidFill>
                <a:latin typeface="Arial"/>
              </a:rPr>
              <a:t>9 misses are real-word typos (will → gill): words are corrected in isolation, so these are never flagged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700">
                <a:solidFill>
                  <a:srgbClr val="2D2D2D"/>
                </a:solidFill>
                <a:latin typeface="Arial" panose="020B0604020202020204"/>
              </a:defRPr>
            </a:pPr>
            <a:r>
              <a:rPr sz="1700">
                <a:solidFill>
                  <a:srgbClr val="2D2D2D"/>
                </a:solidFill>
                <a:latin typeface="Arial"/>
              </a:rPr>
              <a:t>Fixed during testing: 'ovr' → 'or' and 'wht' → 'who' (both correct now, thanks to the learned confusion matrix); 'I' → 'in' (single-letter words)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700">
                <a:solidFill>
                  <a:srgbClr val="2D2D2D"/>
                </a:solidFill>
                <a:latin typeface="Arial" panose="020B0604020202020204"/>
              </a:defRPr>
            </a:pPr>
            <a:r>
              <a:rPr sz="1700">
                <a:solidFill>
                  <a:srgbClr val="2D2D2D"/>
                </a:solidFill>
                <a:latin typeface="Arial"/>
              </a:rPr>
              <a:t>POS: NOUN confusions on ambiguous words like 'that' - a bigram HMM sees only one previous tag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700">
                <a:solidFill>
                  <a:srgbClr val="2D2D2D"/>
                </a:solidFill>
                <a:latin typeface="Arial" panose="020B0604020202020204"/>
              </a:defRPr>
            </a:pPr>
            <a:r>
              <a:rPr sz="1700">
                <a:solidFill>
                  <a:srgbClr val="2D2D2D"/>
                </a:solidFill>
                <a:latin typeface="Arial"/>
              </a:rPr>
              <a:t>Next fixes: prefer 1-edit candidates, rank spelling in context, Kneser-Ney smoothing, trigram HMM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Project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96969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760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/>
              <a:buChar char="•"/>
              <a:defRPr sz="1700">
                <a:solidFill>
                  <a:srgbClr val="2D2D2D"/>
                </a:solidFill>
                <a:latin typeface="Arial" panose="020B0604020202020204"/>
              </a:defRPr>
            </a:pPr>
            <a:r>
              <a:rPr sz="1700">
                <a:solidFill>
                  <a:srgbClr val="2D2D2D"/>
                </a:solidFill>
                <a:latin typeface="Arial"/>
              </a:rPr>
              <a:t>GitHub: https://github.com/AnoonMR/Writing-Assistant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700">
                <a:solidFill>
                  <a:srgbClr val="2D2D2D"/>
                </a:solidFill>
                <a:latin typeface="Arial" panose="020B0604020202020204"/>
              </a:defRPr>
            </a:pPr>
            <a:r>
              <a:rPr sz="1700">
                <a:solidFill>
                  <a:srgbClr val="2D2D2D"/>
                </a:solidFill>
                <a:latin typeface="Arial"/>
              </a:rPr>
              <a:t>Not publicly hosted: runs on localhost and fully offline once the data is downloaded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700">
                <a:solidFill>
                  <a:srgbClr val="2D2D2D"/>
                </a:solidFill>
                <a:latin typeface="Arial" panose="020B0604020202020204"/>
              </a:defRPr>
            </a:pPr>
            <a:r>
              <a:rPr sz="1700">
                <a:solidFill>
                  <a:srgbClr val="2D2D2D"/>
                </a:solidFill>
                <a:latin typeface="Arial"/>
              </a:rPr>
              <a:t>Run: pip install -r requirements.txt, then cd src and python app.py, then open http://127.0.0.1:5000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700">
                <a:solidFill>
                  <a:srgbClr val="2D2D2D"/>
                </a:solidFill>
                <a:latin typeface="Arial" panose="020B0604020202020204"/>
              </a:defRPr>
            </a:pPr>
            <a:r>
              <a:rPr sz="1700">
                <a:solidFill>
                  <a:srgbClr val="2D2D2D"/>
                </a:solidFill>
                <a:latin typeface="Arial"/>
              </a:rPr>
              <a:t>Reproduce all metrics: python evaluate.py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9</a:t>
            </a:r>
          </a:p>
        </p:txBody>
      </p:sp>
      <p:pic>
        <p:nvPicPr>
          <p:cNvPr id="8" name="Picture 7" descr="app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78826"/>
            <a:ext cx="4297680" cy="43976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96969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/>
              <a:buChar char="•"/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>All 5 modules built at full proposal scope, integrated in a live web app, and evaluated on held-out data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>POS tagging 91.74%; spelling 76.00% on synthetic typos and 61.9% on real misspellings within reach - all from scratch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>Every weakness has a measured cause: frequency bias at edit distance 2, out-of-range misspellings, Laplace smoothing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>Future work: prefer 1-edit candidates, context-aware spelling, Kneser-Ney smoothing, trigram HMM, optional hosting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AI Usage Acknowledgement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96969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rPr sz="2000">
                <a:solidFill>
                  <a:srgbClr val="2D2D2D"/>
                </a:solidFill>
                <a:latin typeface="Arial"/>
              </a:rPr>
              <a:t>This project was developed with the assistance of Claude (Anthropic), an AI tool, which was used for code implementation and debugging.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96969"/>
                </a:solidFill>
                <a:latin typeface="Arial" panose="020B0604020202020204"/>
              </a:defRPr>
            </a:pPr>
            <a:r>
              <a:rPr sz="1800">
                <a:solidFill>
                  <a:srgbClr val="2D2D2D"/>
                </a:solidFill>
                <a:latin typeface="Arial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300"/>
              </a:spcAft>
              <a:buFont typeface="Arial"/>
              <a:buChar char="•"/>
              <a:defRPr sz="1400">
                <a:solidFill>
                  <a:srgbClr val="2D2D2D"/>
                </a:solidFill>
                <a:latin typeface="Arial" panose="020B0604020202020204"/>
              </a:defRPr>
            </a:pPr>
            <a:r>
              <a:rPr sz="1400">
                <a:solidFill>
                  <a:srgbClr val="2D2D2D"/>
                </a:solidFill>
                <a:latin typeface="Arial"/>
              </a:rPr>
              <a:t>Damerau, F. J. (1964). A technique for computer detection and correction of spelling errors. CACM, 7(3).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400">
                <a:solidFill>
                  <a:srgbClr val="2D2D2D"/>
                </a:solidFill>
                <a:latin typeface="Arial" panose="020B0604020202020204"/>
              </a:defRPr>
            </a:pPr>
            <a:r>
              <a:rPr sz="1400">
                <a:solidFill>
                  <a:srgbClr val="2D2D2D"/>
                </a:solidFill>
                <a:latin typeface="Arial"/>
              </a:rPr>
              <a:t>Kernighan, M. D., Church, K. W., &amp; Gale, W. A. (1990). A spelling correction program based on a noisy channel model. COLING.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400">
                <a:solidFill>
                  <a:srgbClr val="2D2D2D"/>
                </a:solidFill>
                <a:latin typeface="Arial" panose="020B0604020202020204"/>
              </a:defRPr>
            </a:pPr>
            <a:r>
              <a:rPr sz="1400">
                <a:solidFill>
                  <a:srgbClr val="2D2D2D"/>
                </a:solidFill>
                <a:latin typeface="Arial"/>
              </a:rPr>
              <a:t>Katz, S. M. (1987). Estimation of probabilities from sparse data... IEEE Trans. ASSP, 35(3).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400">
                <a:solidFill>
                  <a:srgbClr val="2D2D2D"/>
                </a:solidFill>
                <a:latin typeface="Arial" panose="020B0604020202020204"/>
              </a:defRPr>
            </a:pPr>
            <a:r>
              <a:rPr sz="1400">
                <a:solidFill>
                  <a:srgbClr val="2D2D2D"/>
                </a:solidFill>
                <a:latin typeface="Arial"/>
              </a:rPr>
              <a:t>Brown, P. F. et al. (1992). Class-based n-gram models of natural language. Computational Linguistics, 18(4).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400">
                <a:solidFill>
                  <a:srgbClr val="2D2D2D"/>
                </a:solidFill>
                <a:latin typeface="Arial" panose="020B0604020202020204"/>
              </a:defRPr>
            </a:pPr>
            <a:r>
              <a:rPr sz="1400">
                <a:solidFill>
                  <a:srgbClr val="2D2D2D"/>
                </a:solidFill>
                <a:latin typeface="Arial"/>
              </a:rPr>
              <a:t>Chen, S. F., &amp; Goodman, J. (1999). An empirical study of smoothing techniques for language modeling. CSL, 13(4).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400">
                <a:solidFill>
                  <a:srgbClr val="2D2D2D"/>
                </a:solidFill>
                <a:latin typeface="Arial" panose="020B0604020202020204"/>
              </a:defRPr>
            </a:pPr>
            <a:r>
              <a:rPr sz="1400">
                <a:solidFill>
                  <a:srgbClr val="2D2D2D"/>
                </a:solidFill>
                <a:latin typeface="Arial"/>
              </a:rPr>
              <a:t>Church, K. W. (1988). A stochastic parts program and noun phrase parser for unrestricted text. ANLP.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400">
                <a:solidFill>
                  <a:srgbClr val="2D2D2D"/>
                </a:solidFill>
                <a:latin typeface="Arial" panose="020B0604020202020204"/>
              </a:defRPr>
            </a:pPr>
            <a:r>
              <a:rPr sz="1400">
                <a:solidFill>
                  <a:srgbClr val="2D2D2D"/>
                </a:solidFill>
                <a:latin typeface="Arial"/>
              </a:rPr>
              <a:t>Viterbi, A. J. (1967). Error bounds for convolutional codes... IEEE Trans. Information Theory, 13(2).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400">
                <a:solidFill>
                  <a:srgbClr val="2D2D2D"/>
                </a:solidFill>
                <a:latin typeface="Arial" panose="020B0604020202020204"/>
              </a:defRPr>
            </a:pPr>
            <a:r>
              <a:rPr sz="1400">
                <a:solidFill>
                  <a:srgbClr val="2D2D2D"/>
                </a:solidFill>
                <a:latin typeface="Arial"/>
              </a:rPr>
              <a:t>Norvig, P. (2009). Natural language corpus data. In Beautiful Data, O'Reilly, 219-242.</a:t>
            </a:r>
          </a:p>
          <a:p>
            <a:pPr marL="342900" indent="-342900">
              <a:spcAft>
                <a:spcPts val="1300"/>
              </a:spcAft>
              <a:buFont typeface="Arial"/>
              <a:buChar char="•"/>
              <a:defRPr sz="1400">
                <a:solidFill>
                  <a:srgbClr val="2D2D2D"/>
                </a:solidFill>
                <a:latin typeface="Arial" panose="020B0604020202020204"/>
              </a:defRPr>
            </a:pPr>
            <a:r>
              <a:rPr sz="1400">
                <a:solidFill>
                  <a:srgbClr val="2D2D2D"/>
                </a:solidFill>
                <a:latin typeface="Arial"/>
              </a:rPr>
              <a:t>Brants, T. (2000). TnT - A statistical part-of-speech tagger. ANLP.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3686</Words>
  <Application>WPS Presentation</Application>
  <PresentationFormat>On-screen Show (4:3)</PresentationFormat>
  <Paragraphs>138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sushm</cp:lastModifiedBy>
  <cp:revision>2</cp:revision>
  <dcterms:created xsi:type="dcterms:W3CDTF">2013-01-27T09:14:00Z</dcterms:created>
  <dcterms:modified xsi:type="dcterms:W3CDTF">2026-10-07T05:40:50Z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2786A9E28CC84F9D87CDAAA8F418E0D5_12</vt:lpwstr>
  </property>
  <property fmtid="{D5CDD505-2E9C-101B-9397-08002B2CF9AE}" pid="3" name="KSOProductBuildVer">
    <vt:lpwstr>1033-12.1.0.28485</vt:lpwstr>
  </property>
</Properties>
</file>