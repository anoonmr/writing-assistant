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dPt>
            <c:idx val="0"/>
            <c:spPr>
              <a:solidFill>
                <a:srgbClr val="34D399"/>
              </a:solidFill>
            </c:spPr>
          </c:dPt>
          <c:dPt>
            <c:idx val="1"/>
            <c:spPr>
              <a:solidFill>
                <a:srgbClr val="5B8CFF"/>
              </a:solidFill>
            </c:spPr>
          </c:dPt>
          <c:dPt>
            <c:idx val="2"/>
            <c:spPr>
              <a:solidFill>
                <a:srgbClr val="8B5CF6"/>
              </a:solidFill>
            </c:spPr>
          </c:dPt>
          <c:dPt>
            <c:idx val="3"/>
            <c:spPr>
              <a:solidFill>
                <a:srgbClr val="EC4899"/>
              </a:solidFill>
            </c:spPr>
          </c:dPt>
          <c:cat>
            <c:strRef>
              <c:f>Sheet1!$A$2:$A$5</c:f>
              <c:strCache>
                <c:ptCount val="4"/>
                <c:pt idx="0">
                  <c:v>POS tagger  (8,242 / 8,984)</c:v>
                </c:pt>
                <c:pt idx="1">
                  <c:v>Spelling — synthetic typos  (152 / 200)</c:v>
                </c:pt>
                <c:pt idx="2">
                  <c:v>Spelling — real, within reach  (190 / 307)</c:v>
                </c:pt>
                <c:pt idx="3">
                  <c:v>Spelling — real, all  (190 / 500)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91.74</c:v>
                </c:pt>
                <c:pt idx="1">
                  <c:v>76.0</c:v>
                </c:pt>
                <c:pt idx="2">
                  <c:v>61.88925081433225</c:v>
                </c:pt>
                <c:pt idx="3">
                  <c:v>38.0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400" b="1">
                  <a:solidFill>
                    <a:srgbClr val="F1F5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B3766"/>
            </a:solidFill>
          </a:ln>
        </c:spPr>
        <c:txPr>
          <a:bodyPr/>
          <a:lstStyle/>
          <a:p>
            <a:pPr>
              <a:defRPr sz="1200">
                <a:solidFill>
                  <a:srgbClr val="A3AEC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A3AEC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Misses</c:v>
                </c:pt>
              </c:strCache>
            </c:strRef>
          </c:tx>
          <c:dPt>
            <c:idx val="0"/>
            <c:spPr>
              <a:solidFill>
                <a:srgbClr val="5B8CFF"/>
              </a:solidFill>
              <a:ln>
                <a:solidFill>
                  <a:srgbClr val="141B33"/>
                </a:solidFill>
              </a:ln>
            </c:spPr>
          </c:dPt>
          <c:dPt>
            <c:idx val="1"/>
            <c:spPr>
              <a:solidFill>
                <a:srgbClr val="8B5CF6"/>
              </a:solidFill>
              <a:ln>
                <a:solidFill>
                  <a:srgbClr val="141B33"/>
                </a:solidFill>
              </a:ln>
            </c:spPr>
          </c:dPt>
          <c:dPt>
            <c:idx val="2"/>
            <c:spPr>
              <a:solidFill>
                <a:srgbClr val="EC4899"/>
              </a:solidFill>
              <a:ln>
                <a:solidFill>
                  <a:srgbClr val="141B33"/>
                </a:solidFill>
              </a:ln>
            </c:spPr>
          </c:dPt>
          <c:dPt>
            <c:idx val="3"/>
            <c:spPr>
              <a:solidFill>
                <a:srgbClr val="FBBF24"/>
              </a:solidFill>
              <a:ln>
                <a:solidFill>
                  <a:srgbClr val="141B33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ED-2 word with a huge prior beat the ED-1 answer (haed → “and”, not “head”)</c:v>
                </c:pt>
                <c:pt idx="1">
                  <c:v>A different edit-distance-1 word won</c:v>
                </c:pt>
                <c:pt idx="2">
                  <c:v>Real-word typos (will → gill) — never flagged</c:v>
                </c:pt>
                <c:pt idx="3">
                  <c:v>Target word not in the vocabulary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</c:v>
                </c:pt>
                <c:pt idx="1">
                  <c:v>11</c:v>
                </c:pt>
                <c:pt idx="2">
                  <c:v>9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F1F5FF"/>
          </a:solidFill>
          <a:latin typeface="Calibr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7589520" y="-2377440"/>
            <a:ext cx="5852160" cy="5852160"/>
          </a:xfrm>
          <a:prstGeom prst="ellipse">
            <a:avLst/>
          </a:prstGeom>
          <a:solidFill>
            <a:srgbClr val="8B5CF6">
              <a:alpha val="30000"/>
            </a:srgbClr>
          </a:solidFill>
          <a:ln>
            <a:noFill/>
          </a:ln>
          <a:effectLst>
            <a:softEdge rad="187269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2194560" y="3474720"/>
            <a:ext cx="5120640" cy="5120640"/>
          </a:xfrm>
          <a:prstGeom prst="ellipse">
            <a:avLst/>
          </a:prstGeom>
          <a:solidFill>
            <a:srgbClr val="5B8CFF">
              <a:alpha val="24000"/>
            </a:srgbClr>
          </a:solidFill>
          <a:ln>
            <a:noFill/>
          </a:ln>
          <a:effectLst>
            <a:softEdge rad="163860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Ambient glow"/>
          <p:cNvSpPr/>
          <p:nvPr/>
        </p:nvSpPr>
        <p:spPr>
          <a:xfrm>
            <a:off x="4572000" y="5120640"/>
            <a:ext cx="3657600" cy="3657600"/>
          </a:xfrm>
          <a:prstGeom prst="ellipse">
            <a:avLst/>
          </a:prstGeom>
          <a:solidFill>
            <a:srgbClr val="EC4899">
              <a:alpha val="16000"/>
            </a:srgbClr>
          </a:solidFill>
          <a:ln>
            <a:noFill/>
          </a:ln>
          <a:effectLst>
            <a:softEdge rad="1170432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F472B6"/>
                </a:solidFill>
                <a:latin typeface="Calibri"/>
              </a:rPr>
              <a:t>ACTIVITY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1F5FF"/>
                </a:solidFill>
                <a:latin typeface="Calibri"/>
              </a:rPr>
              <a:t>NLP-Based Intelligent Writing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 i="0">
                <a:solidFill>
                  <a:srgbClr val="C4B5FD"/>
                </a:solidFill>
                <a:latin typeface="Calibri"/>
              </a:rPr>
              <a:t>Autocorrect, Autocomplete, and POS-Aware Suggestions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1426464" cy="502920"/>
          </a:xfrm>
          <a:prstGeom prst="roundRect">
            <a:avLst>
              <a:gd name="adj" fmla="val 21818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42646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A3AECF"/>
                </a:solidFill>
                <a:latin typeface="Calibri"/>
              </a:rPr>
              <a:t>teh</a:t>
            </a:r>
            <a:r>
              <a:rPr sz="1500" b="0" i="0">
                <a:solidFill>
                  <a:srgbClr val="A3AECF"/>
                </a:solidFill>
                <a:latin typeface="Calibri"/>
              </a:rPr>
              <a:t>  →  </a:t>
            </a:r>
            <a:r>
              <a:rPr sz="1500" b="1" i="0">
                <a:solidFill>
                  <a:srgbClr val="F472B6"/>
                </a:solidFill>
                <a:latin typeface="Calibri"/>
              </a:rPr>
              <a:t>the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3794760"/>
            <a:ext cx="1952244" cy="502920"/>
          </a:xfrm>
          <a:prstGeom prst="roundRect">
            <a:avLst>
              <a:gd name="adj" fmla="val 21818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249424" y="3794760"/>
            <a:ext cx="195224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A3AECF"/>
                </a:solidFill>
                <a:latin typeface="Calibri"/>
              </a:rPr>
              <a:t>jumpd</a:t>
            </a:r>
            <a:r>
              <a:rPr sz="1500" b="0" i="0">
                <a:solidFill>
                  <a:srgbClr val="A3AECF"/>
                </a:solidFill>
                <a:latin typeface="Calibri"/>
              </a:rPr>
              <a:t>  →  </a:t>
            </a:r>
            <a:r>
              <a:rPr sz="1500" b="1" i="0">
                <a:solidFill>
                  <a:srgbClr val="F472B6"/>
                </a:solidFill>
                <a:latin typeface="Calibri"/>
              </a:rPr>
              <a:t>jumped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4548" y="379476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84548" y="3794760"/>
            <a:ext cx="15316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A3AECF"/>
                </a:solidFill>
                <a:latin typeface="Calibri"/>
              </a:rPr>
              <a:t>ovr</a:t>
            </a:r>
            <a:r>
              <a:rPr sz="1500" b="0" i="0">
                <a:solidFill>
                  <a:srgbClr val="A3AECF"/>
                </a:solidFill>
                <a:latin typeface="Calibri"/>
              </a:rPr>
              <a:t>  →  </a:t>
            </a:r>
            <a:r>
              <a:rPr sz="1500" b="1" i="0">
                <a:solidFill>
                  <a:srgbClr val="F472B6"/>
                </a:solidFill>
                <a:latin typeface="Calibri"/>
              </a:rPr>
              <a:t>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Spell correction  ·  next-word prediction  ·  POS tagging — built from scratch in Python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051560"/>
            <a:ext cx="3749039" cy="3291840"/>
          </a:xfrm>
          <a:prstGeom prst="roundRect">
            <a:avLst>
              <a:gd name="adj" fmla="val 5555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92440" y="1280160"/>
            <a:ext cx="3200400" cy="438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TEAM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1F5FF"/>
                </a:solidFill>
                <a:latin typeface="Calibri"/>
              </a:rPr>
              <a:t>SyntaxSquad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MEMBERS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Anoon M R  ·  25MCAR0179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Aman Kumawat  ·  25MCAR0023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Adithya Krishnan T N  ·  25MCAR0003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FACULTY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Dr. Sharal Coelho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COURSE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Natural Language Processing (25MCAAI303)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DEPARTMENT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MCA · JAIN (Deemed-to-be University)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01 · INTRODUCTION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Introduction &amp; Problem Statement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2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22959" y="1783080"/>
            <a:ext cx="502920" cy="5029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59" y="17830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F1F5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Background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468880"/>
            <a:ext cx="2971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A writing assistant built from scratch in Python — spell correction, next-word prediction and POS-aware suggestions.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55448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617720" y="1783080"/>
            <a:ext cx="502920" cy="5029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17720" y="17830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F1F5FF"/>
                </a:solidFill>
                <a:latin typeface="Calibr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18288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68880"/>
            <a:ext cx="2971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Spell checkers ignore real error patterns; autocomplete ignores grammar.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55448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412480" y="1783080"/>
            <a:ext cx="502920" cy="5029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0" y="17830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F1F5FF"/>
                </a:solidFill>
                <a:latin typeface="Calibri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288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Why it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468880"/>
            <a:ext cx="2971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Emails, messages and academic writing all suffer from context-blind corrections and ungrammatical suggestions.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Objectives — five modules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49808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Tokenizer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Regex-based word splitting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07208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3008376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008376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8376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Spell corrector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08376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Noisy Channel, learned confusion matrix, edit distance ≤ 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65776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266944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266944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N-Gram 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66944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Bigram + trigram with back-off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24344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525512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525512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25512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POS tagger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25512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HMM decoded with Viterbi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82912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9784080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784080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4080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Live Flask UI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Debounced AJAX, updates as you type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02 · LITERATURE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Literature Survey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1577340" y="1947672"/>
            <a:ext cx="8961120" cy="36576"/>
          </a:xfrm>
          <a:prstGeom prst="rect">
            <a:avLst/>
          </a:prstGeom>
          <a:gradFill rotWithShape="1">
            <a:gsLst>
              <a:gs pos="0">
                <a:srgbClr val="5B8CFF"/>
              </a:gs>
              <a:gs pos="50000">
                <a:srgbClr val="8B5CF6"/>
              </a:gs>
              <a:gs pos="100000">
                <a:srgbClr val="EC489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120140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20140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1964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CACM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Damerau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~80% of real typos are a single edit</a:t>
            </a:r>
          </a:p>
        </p:txBody>
      </p:sp>
      <p:sp>
        <p:nvSpPr>
          <p:cNvPr id="15" name="Oval 14"/>
          <p:cNvSpPr/>
          <p:nvPr/>
        </p:nvSpPr>
        <p:spPr>
          <a:xfrm>
            <a:off x="3360420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60420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97180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IEEE Trans. Info.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Viterbi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The decoding algorithm our POS tagger uses</a:t>
            </a:r>
          </a:p>
        </p:txBody>
      </p:sp>
      <p:sp>
        <p:nvSpPr>
          <p:cNvPr id="21" name="Oval 20"/>
          <p:cNvSpPr/>
          <p:nvPr/>
        </p:nvSpPr>
        <p:spPr>
          <a:xfrm>
            <a:off x="5600700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600700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1988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21208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ANLP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Church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HMM-style POS tagger on the Brown Corpus, 95–99% accuracy</a:t>
            </a:r>
          </a:p>
        </p:txBody>
      </p:sp>
      <p:sp>
        <p:nvSpPr>
          <p:cNvPr id="27" name="Oval 26"/>
          <p:cNvSpPr/>
          <p:nvPr/>
        </p:nvSpPr>
        <p:spPr>
          <a:xfrm>
            <a:off x="7840979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40979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1990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8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5236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COLING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Kernighan, Church &amp; Gale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Noisy Channel spelling correction with learned confusion matrices — basis of our corrector</a:t>
            </a:r>
          </a:p>
        </p:txBody>
      </p:sp>
      <p:sp>
        <p:nvSpPr>
          <p:cNvPr id="33" name="Oval 32"/>
          <p:cNvSpPr/>
          <p:nvPr/>
        </p:nvSpPr>
        <p:spPr>
          <a:xfrm>
            <a:off x="10081260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081260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1999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6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69264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CSL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Chen &amp; Goodman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Smoothing survey; explains our perplexity results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14736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68680" y="521208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F472B6"/>
                </a:solidFill>
                <a:latin typeface="Calibri"/>
              </a:rPr>
              <a:t>Research gap:  </a:t>
            </a:r>
            <a:r>
              <a:rPr sz="1600" b="0" i="0">
                <a:solidFill>
                  <a:srgbClr val="F1F5FF"/>
                </a:solidFill>
                <a:latin typeface="Calibri"/>
              </a:rPr>
              <a:t>these techniques are usually studied in isolation — we let the HMM filter the N-gram LM's suggestions in real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03 · METHODOLOGY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Proposed Methodology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4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Raw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user input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1984248" y="1947672"/>
            <a:ext cx="146304" cy="164592"/>
          </a:xfrm>
          <a:prstGeom prst="triangle">
            <a:avLst/>
          </a:prstGeom>
          <a:solidFill>
            <a:srgbClr val="6A8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2167128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6A8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240280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Tokenizer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regex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3602736" y="1947672"/>
            <a:ext cx="146304" cy="164592"/>
          </a:xfrm>
          <a:prstGeom prst="triangle">
            <a:avLst/>
          </a:prstGeom>
          <a:solidFill>
            <a:srgbClr val="797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785615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797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58768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Spell corrector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Noisy Channel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5221224" y="1947672"/>
            <a:ext cx="146304" cy="164592"/>
          </a:xfrm>
          <a:prstGeom prst="triangl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5404104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7256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POS tagger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7256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HMM + Viterbi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6839712" y="1947672"/>
            <a:ext cx="146304" cy="164592"/>
          </a:xfrm>
          <a:prstGeom prst="triangle">
            <a:avLst/>
          </a:prstGeom>
          <a:solidFill>
            <a:srgbClr val="AB5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022592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AB5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95744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N-Gram 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trigram → bigram</a:t>
            </a:r>
          </a:p>
        </p:txBody>
      </p:sp>
      <p:sp>
        <p:nvSpPr>
          <p:cNvPr id="27" name="Isosceles Triangle 26"/>
          <p:cNvSpPr/>
          <p:nvPr/>
        </p:nvSpPr>
        <p:spPr>
          <a:xfrm rot="5400000">
            <a:off x="8458200" y="1947672"/>
            <a:ext cx="146304" cy="164592"/>
          </a:xfrm>
          <a:prstGeom prst="triangle">
            <a:avLst/>
          </a:prstGeom>
          <a:solidFill>
            <a:srgbClr val="CB4E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641080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CB4E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714232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POS filter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4232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match expected tag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10076688" y="1947672"/>
            <a:ext cx="146304" cy="164592"/>
          </a:xfrm>
          <a:prstGeom prst="triangl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10259568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332720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Flask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live AJAX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2926080"/>
            <a:ext cx="5408676" cy="1463040"/>
          </a:xfrm>
          <a:prstGeom prst="roundRect">
            <a:avLst>
              <a:gd name="adj" fmla="val 875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22959" y="3227832"/>
            <a:ext cx="182880" cy="182880"/>
          </a:xfrm>
          <a:prstGeom prst="ellipse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43000" y="3127248"/>
            <a:ext cx="45399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Spell corrector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59" y="3566160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Candidates within edit distance 2, ranked by P(word) × P(typo | word). P(typo | word) learned from 12,356 real single-edit misspellings.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31636" y="2926080"/>
            <a:ext cx="5408676" cy="1463040"/>
          </a:xfrm>
          <a:prstGeom prst="roundRect">
            <a:avLst>
              <a:gd name="adj" fmla="val 875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6505955" y="3227832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825996" y="3127248"/>
            <a:ext cx="45399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N-Gram language 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05955" y="3566160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Trigram with back-off to bigram, Laplace smoothing; trained on Brown Corpus sentences.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617720"/>
            <a:ext cx="5408676" cy="1463040"/>
          </a:xfrm>
          <a:prstGeom prst="roundRect">
            <a:avLst>
              <a:gd name="adj" fmla="val 875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22959" y="4919472"/>
            <a:ext cx="182880" cy="182880"/>
          </a:xfrm>
          <a:prstGeom prst="ellipse">
            <a:avLst/>
          </a:prstGeom>
          <a:solidFill>
            <a:srgbClr val="AB5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143000" y="4818888"/>
            <a:ext cx="45399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HMM POS tagger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" y="5257800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Bigram HMM over 10 Universal POS tags, decoded with the Viterbi algorithm.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31636" y="4617720"/>
            <a:ext cx="5408676" cy="1463040"/>
          </a:xfrm>
          <a:prstGeom prst="roundRect">
            <a:avLst>
              <a:gd name="adj" fmla="val 875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505955" y="4919472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825996" y="4818888"/>
            <a:ext cx="45399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POS-aware filter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05955" y="5257800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Keep only next-word candidates whose tag matches the tag the HMM expects next.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04 · DATA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Dataset &amp; Experimental Setup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5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1572768"/>
            <a:ext cx="201167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800" b="1" i="0">
                <a:solidFill>
                  <a:srgbClr val="5B8CFF"/>
                </a:solidFill>
                <a:latin typeface="Calibri"/>
              </a:rPr>
              <a:t>54,286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67712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F"/>
                </a:solidFill>
                <a:latin typeface="Calibri"/>
              </a:rPr>
              <a:t>cleaned sentences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606040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Brown Corpus (NLTK)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2424" y="146304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66744" y="1572768"/>
            <a:ext cx="201167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800" b="1" i="0">
                <a:solidFill>
                  <a:srgbClr val="8B5CF6"/>
                </a:solidFill>
                <a:latin typeface="Calibri"/>
              </a:rPr>
              <a:t>24,891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267712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F"/>
                </a:solidFill>
                <a:latin typeface="Calibri"/>
              </a:rPr>
              <a:t>vocabulary 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2606040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frequency ≥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46304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1572768"/>
            <a:ext cx="201167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800" b="1" i="0">
                <a:solidFill>
                  <a:srgbClr val="B455DA"/>
                </a:solidFill>
                <a:latin typeface="Calibri"/>
              </a:rPr>
              <a:t>54,270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267712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F"/>
                </a:solidFill>
                <a:latin typeface="Calibri"/>
              </a:rPr>
              <a:t>POS-tagged sentences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7" y="2606040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10 Universal tags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9992" y="146304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54312" y="1572768"/>
            <a:ext cx="201167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800" b="1" i="0">
                <a:solidFill>
                  <a:srgbClr val="EC4899"/>
                </a:solidFill>
                <a:latin typeface="Calibri"/>
              </a:rPr>
              <a:t>38,218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267712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F"/>
                </a:solidFill>
                <a:latin typeface="Calibri"/>
              </a:rPr>
              <a:t>real misspelling pairs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4312" y="2606040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Norvig corpus, 7,841 words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46120"/>
            <a:ext cx="11091672" cy="685800"/>
          </a:xfrm>
          <a:prstGeom prst="roundRect">
            <a:avLst>
              <a:gd name="adj" fmla="val 18666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2960" y="324612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1" i="0">
                <a:solidFill>
                  <a:srgbClr val="F472B6"/>
                </a:solidFill>
                <a:latin typeface="Calibri"/>
              </a:rPr>
              <a:t>Downloaded from:  </a:t>
            </a:r>
            <a:r>
              <a:rPr sz="1300" b="1" i="0">
                <a:solidFill>
                  <a:srgbClr val="F1F5FF"/>
                </a:solidFill>
                <a:latin typeface="Calibri"/>
              </a:rPr>
              <a:t>Brown Corpus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— NLTK data (nltk.download('brown'), nltk.org/nltk_data)     </a:t>
            </a:r>
            <a:r>
              <a:rPr sz="1300" b="1" i="0">
                <a:solidFill>
                  <a:srgbClr val="F1F5FF"/>
                </a:solidFill>
                <a:latin typeface="Calibri"/>
              </a:rPr>
              <a:t>Misspellings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— norvig.com/ngrams/spell-errors.txt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114800"/>
            <a:ext cx="5394960" cy="2011680"/>
          </a:xfrm>
          <a:prstGeom prst="roundRect">
            <a:avLst>
              <a:gd name="adj" fmla="val 6363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" y="427939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F1F5FF"/>
                </a:solidFill>
                <a:latin typeface="Calibri"/>
              </a:rPr>
              <a:t>Preprocessing (Activity 1)</a:t>
            </a:r>
          </a:p>
        </p:txBody>
      </p:sp>
      <p:sp>
        <p:nvSpPr>
          <p:cNvPr id="28" name="Oval 27"/>
          <p:cNvSpPr/>
          <p:nvPr/>
        </p:nvSpPr>
        <p:spPr>
          <a:xfrm>
            <a:off x="822960" y="4754880"/>
            <a:ext cx="274320" cy="2743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754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1F5FF"/>
                </a:solidFill>
                <a:latin typeface="Calibr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43584" y="47548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 i="0">
                <a:solidFill>
                  <a:srgbClr val="F1F5FF"/>
                </a:solidFill>
                <a:latin typeface="Calibri"/>
              </a:rPr>
              <a:t>Lowercase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5084064"/>
            <a:ext cx="274320" cy="2743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50840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1F5FF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43584" y="50840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 i="0">
                <a:solidFill>
                  <a:srgbClr val="F1F5FF"/>
                </a:solidFill>
                <a:latin typeface="Calibri"/>
              </a:rPr>
              <a:t>Strip punctuation</a:t>
            </a:r>
          </a:p>
        </p:txBody>
      </p:sp>
      <p:sp>
        <p:nvSpPr>
          <p:cNvPr id="34" name="Oval 33"/>
          <p:cNvSpPr/>
          <p:nvPr/>
        </p:nvSpPr>
        <p:spPr>
          <a:xfrm>
            <a:off x="822960" y="5413248"/>
            <a:ext cx="274320" cy="2743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60" y="5413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1F5FF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54132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 i="0">
                <a:solidFill>
                  <a:srgbClr val="F1F5FF"/>
                </a:solidFill>
                <a:latin typeface="Calibri"/>
              </a:rPr>
              <a:t>Tokenize</a:t>
            </a:r>
          </a:p>
        </p:txBody>
      </p:sp>
      <p:sp>
        <p:nvSpPr>
          <p:cNvPr id="37" name="Oval 36"/>
          <p:cNvSpPr/>
          <p:nvPr/>
        </p:nvSpPr>
        <p:spPr>
          <a:xfrm>
            <a:off x="822960" y="5742432"/>
            <a:ext cx="274320" cy="2743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2960" y="5742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1F5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3584" y="574243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 i="0">
                <a:solidFill>
                  <a:srgbClr val="F1F5FF"/>
                </a:solidFill>
                <a:latin typeface="Calibri"/>
              </a:rPr>
              <a:t>Length filter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114800"/>
            <a:ext cx="5422392" cy="2011680"/>
          </a:xfrm>
          <a:prstGeom prst="roundRect">
            <a:avLst>
              <a:gd name="adj" fmla="val 6363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92240" y="427939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F1F5FF"/>
                </a:solidFill>
                <a:latin typeface="Calibri"/>
              </a:rPr>
              <a:t>Experimental setup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92240" y="4736592"/>
            <a:ext cx="4349800" cy="347472"/>
          </a:xfrm>
          <a:prstGeom prst="roundRect">
            <a:avLst>
              <a:gd name="adj" fmla="val 21052"/>
            </a:avLst>
          </a:prstGeom>
          <a:gradFill rotWithShape="1">
            <a:gsLst>
              <a:gs pos="0">
                <a:srgbClr val="5B8CFF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10915192" y="4736592"/>
            <a:ext cx="450799" cy="347472"/>
          </a:xfrm>
          <a:prstGeom prst="roundRect">
            <a:avLst>
              <a:gd name="adj" fmla="val 21052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29400" y="473659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1" i="0">
                <a:solidFill>
                  <a:srgbClr val="F1F5FF"/>
                </a:solidFill>
                <a:latin typeface="Calibri"/>
              </a:rPr>
              <a:t>90% train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5120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seed 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5656" y="51206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1" i="0">
                <a:solidFill>
                  <a:srgbClr val="F472B6"/>
                </a:solidFill>
                <a:latin typeface="Calibri"/>
              </a:rPr>
              <a:t>10% test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468112"/>
            <a:ext cx="487375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A3AECF"/>
                </a:solidFill>
                <a:latin typeface="Calibri"/>
              </a:rPr>
              <a:t>Applied to all three datasets — every score is on unseen data.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1F5FF"/>
                </a:solidFill>
                <a:latin typeface="Calibri"/>
              </a:rPr>
              <a:t>Tools: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Python 3.12 · Flask 3.1.3 · matplotlib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05 · RESULTS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Results &amp; Evaluation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6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6766560" cy="4617720"/>
          </a:xfrm>
          <a:prstGeom prst="roundRect">
            <a:avLst>
              <a:gd name="adj" fmla="val 277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F1F5FF"/>
                </a:solidFill>
                <a:latin typeface="Calibri"/>
              </a:rPr>
              <a:t>Accuracy on held-out test data</a:t>
            </a:r>
          </a:p>
        </p:txBody>
      </p:sp>
      <p:graphicFrame>
        <p:nvGraphicFramePr>
          <p:cNvPr id="10" name="Accuracy chart"/>
          <p:cNvGraphicFramePr>
            <a:graphicFrameLocks noGrp="1"/>
          </p:cNvGraphicFramePr>
          <p:nvPr/>
        </p:nvGraphicFramePr>
        <p:xfrm>
          <a:off x="731520" y="2148840"/>
          <a:ext cx="64008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89520" y="1508760"/>
            <a:ext cx="4050791" cy="1188720"/>
          </a:xfrm>
          <a:prstGeom prst="roundRect">
            <a:avLst>
              <a:gd name="adj" fmla="val 10769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63840" y="1645919"/>
            <a:ext cx="3502151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5B8CFF"/>
                </a:solidFill>
                <a:latin typeface="Calibri"/>
              </a:rPr>
              <a:t>5,596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258568"/>
            <a:ext cx="3502151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Bigram perplexity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2880360"/>
            <a:ext cx="4050791" cy="1188720"/>
          </a:xfrm>
          <a:prstGeom prst="roundRect">
            <a:avLst>
              <a:gd name="adj" fmla="val 10769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0" y="3017520"/>
            <a:ext cx="3502151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EC4899"/>
                </a:solidFill>
                <a:latin typeface="Calibri"/>
              </a:rPr>
              <a:t>13,641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630168"/>
            <a:ext cx="3502151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Trigram perplexity (with back-off)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297680"/>
            <a:ext cx="4050791" cy="1828800"/>
          </a:xfrm>
          <a:prstGeom prst="roundRect">
            <a:avLst>
              <a:gd name="adj" fmla="val 7000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0" y="4462272"/>
            <a:ext cx="3502151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472B6"/>
                </a:solidFill>
                <a:latin typeface="Calibri"/>
              </a:rPr>
              <a:t>Why is trigram higher? 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Laplace adds V ≈ 40K to every denominator, which swamps the sparse trigram counts.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1F5FF"/>
                </a:solidFill>
                <a:latin typeface="Calibri"/>
              </a:rPr>
              <a:t>193 of 500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real misspellings are 3+ edits away — out of reach by design.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06 · OUTPUTS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Confusion Matrix &amp; Live Output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7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5408676" cy="3886200"/>
          </a:xfrm>
          <a:prstGeom prst="roundRect">
            <a:avLst>
              <a:gd name="adj" fmla="val 3294"/>
            </a:avLst>
          </a:prstGeom>
          <a:solidFill>
            <a:srgbClr val="FFFFFF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OS confusion matrix" descr="pos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" y="1600200"/>
            <a:ext cx="4320540" cy="37033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31636" y="1508760"/>
            <a:ext cx="5408676" cy="3886200"/>
          </a:xfrm>
          <a:prstGeom prst="roundRect">
            <a:avLst>
              <a:gd name="adj" fmla="val 3294"/>
            </a:avLst>
          </a:prstGeom>
          <a:solidFill>
            <a:srgbClr val="0E1428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App screenshot" descr="app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6397" y="1600200"/>
            <a:ext cx="3619153" cy="370332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48640" y="557784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559552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POS tagger confusion matrix</a:t>
            </a:r>
          </a:p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Held-out set, strongly diagonal. Biggest confusions: NOUN → ADJ (83), DET (80), CONJ (72).</a:t>
            </a:r>
          </a:p>
        </p:txBody>
      </p:sp>
      <p:sp>
        <p:nvSpPr>
          <p:cNvPr id="15" name="Oval 14"/>
          <p:cNvSpPr/>
          <p:nvPr/>
        </p:nvSpPr>
        <p:spPr>
          <a:xfrm>
            <a:off x="6231636" y="557784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31636" y="5577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4555" y="5559552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Live web app</a:t>
            </a:r>
          </a:p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3 typos fixed, every word tagged, next-word suggestions filtered to the expected tag.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07 · ERROR ANALYSIS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Error Analysis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8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5394960" cy="4617720"/>
          </a:xfrm>
          <a:prstGeom prst="roundRect">
            <a:avLst>
              <a:gd name="adj" fmla="val 277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Why the 48 synthetic-typo misses happened</a:t>
            </a:r>
          </a:p>
        </p:txBody>
      </p:sp>
      <p:graphicFrame>
        <p:nvGraphicFramePr>
          <p:cNvPr id="10" name="Error donut"/>
          <p:cNvGraphicFramePr>
            <a:graphicFrameLocks noGrp="1"/>
          </p:cNvGraphicFramePr>
          <p:nvPr/>
        </p:nvGraphicFramePr>
        <p:xfrm>
          <a:off x="731520" y="2194560"/>
          <a:ext cx="210312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2926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000" b="1" i="0">
                <a:solidFill>
                  <a:srgbClr val="F1F5FF"/>
                </a:solidFill>
                <a:latin typeface="Calibri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A3AECF"/>
                </a:solidFill>
                <a:latin typeface="Calibri"/>
              </a:rPr>
              <a:t>misses</a:t>
            </a:r>
          </a:p>
        </p:txBody>
      </p:sp>
      <p:sp>
        <p:nvSpPr>
          <p:cNvPr id="13" name="Oval 12"/>
          <p:cNvSpPr/>
          <p:nvPr/>
        </p:nvSpPr>
        <p:spPr>
          <a:xfrm>
            <a:off x="3063240" y="2377440"/>
            <a:ext cx="164592" cy="164592"/>
          </a:xfrm>
          <a:prstGeom prst="ellipse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37560" y="228600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5B8CFF"/>
                </a:solidFill>
                <a:latin typeface="Calibri"/>
              </a:rPr>
              <a:t>23 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ED-2 word beat ED-1</a:t>
            </a:r>
          </a:p>
        </p:txBody>
      </p:sp>
      <p:sp>
        <p:nvSpPr>
          <p:cNvPr id="15" name="Oval 14"/>
          <p:cNvSpPr/>
          <p:nvPr/>
        </p:nvSpPr>
        <p:spPr>
          <a:xfrm>
            <a:off x="3063240" y="2880360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37560" y="278892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Calibri"/>
              </a:rPr>
              <a:t>11 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Other ED-1 word won</a:t>
            </a:r>
          </a:p>
        </p:txBody>
      </p:sp>
      <p:sp>
        <p:nvSpPr>
          <p:cNvPr id="17" name="Oval 16"/>
          <p:cNvSpPr/>
          <p:nvPr/>
        </p:nvSpPr>
        <p:spPr>
          <a:xfrm>
            <a:off x="3063240" y="3383280"/>
            <a:ext cx="164592" cy="164592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337560" y="329184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EC4899"/>
                </a:solidFill>
                <a:latin typeface="Calibri"/>
              </a:rPr>
              <a:t>9 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Real-word typo</a:t>
            </a:r>
          </a:p>
        </p:txBody>
      </p:sp>
      <p:sp>
        <p:nvSpPr>
          <p:cNvPr id="19" name="Oval 18"/>
          <p:cNvSpPr/>
          <p:nvPr/>
        </p:nvSpPr>
        <p:spPr>
          <a:xfrm>
            <a:off x="3063240" y="3886200"/>
            <a:ext cx="164592" cy="164592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337560" y="379476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5 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Not in vocabulary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572000"/>
            <a:ext cx="4846320" cy="1143000"/>
          </a:xfrm>
          <a:prstGeom prst="roundRect">
            <a:avLst>
              <a:gd name="adj" fmla="val 11200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51560" y="470916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1F5FF"/>
                </a:solidFill>
                <a:latin typeface="Calibri"/>
              </a:rPr>
              <a:t>haed → “and”, not “head”: </a:t>
            </a:r>
            <a:r>
              <a:rPr sz="1200" b="0" i="0">
                <a:solidFill>
                  <a:srgbClr val="A3AECF"/>
                </a:solidFill>
                <a:latin typeface="Calibri"/>
              </a:rPr>
              <a:t>a very common word 2 edits away outranks the right word 1 edit away.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1F5FF"/>
                </a:solidFill>
                <a:latin typeface="Calibri"/>
              </a:rPr>
              <a:t>will → gill: </a:t>
            </a:r>
            <a:r>
              <a:rPr sz="1200" b="0" i="0">
                <a:solidFill>
                  <a:srgbClr val="A3AECF"/>
                </a:solidFill>
                <a:latin typeface="Calibri"/>
              </a:rPr>
              <a:t>a real word, so words corrected in isolation never flag 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508760"/>
            <a:ext cx="5422392" cy="1417320"/>
          </a:xfrm>
          <a:prstGeom prst="roundRect">
            <a:avLst>
              <a:gd name="adj" fmla="val 903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0" y="1691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34D399"/>
                </a:solidFill>
                <a:latin typeface="Calibri"/>
              </a:rPr>
              <a:t>Fixed during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075688"/>
            <a:ext cx="487375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“ovr” used to give “or” and “wht” gave “who” — both now give “over” and “what”, thanks to the learned confusion matrix. Single-letter “I” → “in” also fixed.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108960"/>
            <a:ext cx="5422392" cy="1417320"/>
          </a:xfrm>
          <a:prstGeom prst="roundRect">
            <a:avLst>
              <a:gd name="adj" fmla="val 903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32918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BBF24"/>
                </a:solidFill>
                <a:latin typeface="Calibri"/>
              </a:rPr>
              <a:t>POS confusions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75887"/>
            <a:ext cx="487375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NOUN mix-ups on ambiguous words like “that” — a bigram HMM only sees one previous tag.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709160"/>
            <a:ext cx="5422392" cy="1417320"/>
          </a:xfrm>
          <a:prstGeom prst="roundRect">
            <a:avLst>
              <a:gd name="adj" fmla="val 903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92240" y="48920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472B6"/>
                </a:solidFill>
                <a:latin typeface="Calibri"/>
              </a:rPr>
              <a:t>Next fixes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276088"/>
            <a:ext cx="487375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Prefer 1-edit candidates · rank spelling in context · Kneser-Ney smoothing · trigram HMM.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08 · PROJECT PROOF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Project Proof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9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6675120" cy="1143000"/>
          </a:xfrm>
          <a:prstGeom prst="roundRect">
            <a:avLst>
              <a:gd name="adj" fmla="val 112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22960" y="1783080"/>
            <a:ext cx="594360" cy="5943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&lt;/&gt;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9164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Source code on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0116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github.com/AnoonMR/Writing-Assistant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80360"/>
            <a:ext cx="6675120" cy="2377440"/>
          </a:xfrm>
          <a:prstGeom prst="roundRect">
            <a:avLst>
              <a:gd name="adj" fmla="val 5384"/>
            </a:avLst>
          </a:prstGeom>
          <a:solidFill>
            <a:srgbClr val="070B16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3063240"/>
            <a:ext cx="128016" cy="128016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005840" y="3063240"/>
            <a:ext cx="128016" cy="12801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234440" y="3063240"/>
            <a:ext cx="128016" cy="128016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3383280"/>
            <a:ext cx="6217920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F472B6"/>
                </a:solidFill>
                <a:latin typeface="Consolas"/>
              </a:rPr>
              <a:t>$ </a:t>
            </a:r>
            <a:r>
              <a:rPr sz="1400" b="0" i="0">
                <a:solidFill>
                  <a:srgbClr val="F1F5FF"/>
                </a:solidFill>
                <a:latin typeface="Consolas"/>
              </a:rPr>
              <a:t>pip install -r requirements.txt</a:t>
            </a:r>
            <a:r>
              <a:rPr sz="1400" b="0" i="0">
                <a:solidFill>
                  <a:srgbClr val="6B7799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F472B6"/>
                </a:solidFill>
                <a:latin typeface="Consolas"/>
              </a:rPr>
              <a:t>$ </a:t>
            </a:r>
            <a:r>
              <a:rPr sz="1400" b="0" i="0">
                <a:solidFill>
                  <a:srgbClr val="F1F5FF"/>
                </a:solidFill>
                <a:latin typeface="Consolas"/>
              </a:rPr>
              <a:t>cd src</a:t>
            </a:r>
            <a:r>
              <a:rPr sz="1400" b="0" i="0">
                <a:solidFill>
                  <a:srgbClr val="6B7799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F472B6"/>
                </a:solidFill>
                <a:latin typeface="Consolas"/>
              </a:rPr>
              <a:t>$ </a:t>
            </a:r>
            <a:r>
              <a:rPr sz="1400" b="0" i="0">
                <a:solidFill>
                  <a:srgbClr val="F1F5FF"/>
                </a:solidFill>
                <a:latin typeface="Consolas"/>
              </a:rPr>
              <a:t>python app.py</a:t>
            </a:r>
            <a:r>
              <a:rPr sz="1400" b="0" i="0">
                <a:solidFill>
                  <a:srgbClr val="6B7799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4D399"/>
                </a:solidFill>
                <a:latin typeface="Consolas"/>
              </a:rPr>
              <a:t>→ open http://127.0.0.1:5000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F472B6"/>
                </a:solidFill>
                <a:latin typeface="Consolas"/>
              </a:rPr>
              <a:t>$ </a:t>
            </a:r>
            <a:r>
              <a:rPr sz="1400" b="0" i="0">
                <a:solidFill>
                  <a:srgbClr val="F1F5FF"/>
                </a:solidFill>
                <a:latin typeface="Consolas"/>
              </a:rPr>
              <a:t>python evaluate.py</a:t>
            </a:r>
            <a:r>
              <a:rPr sz="1400" b="0" i="0">
                <a:solidFill>
                  <a:srgbClr val="6B7799"/>
                </a:solidFill>
                <a:latin typeface="Consolas"/>
              </a:rPr>
              <a:t>   # reproduce every metric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6675120" cy="640080"/>
          </a:xfrm>
          <a:prstGeom prst="roundRect">
            <a:avLst>
              <a:gd name="adj" fmla="val 20000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486400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1" i="0">
                <a:solidFill>
                  <a:srgbClr val="F472B6"/>
                </a:solidFill>
                <a:latin typeface="Calibri"/>
              </a:rPr>
              <a:t>Not publicly hosted —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runs on localhost, fully offline once the data is downloaded.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1508760"/>
            <a:ext cx="4142232" cy="4617720"/>
          </a:xfrm>
          <a:prstGeom prst="roundRect">
            <a:avLst>
              <a:gd name="adj" fmla="val 3090"/>
            </a:avLst>
          </a:prstGeom>
          <a:solidFill>
            <a:srgbClr val="0E1428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App screenshot" descr="ap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91905"/>
            <a:ext cx="3959352" cy="40514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7589520" y="-2377440"/>
            <a:ext cx="5852160" cy="5852160"/>
          </a:xfrm>
          <a:prstGeom prst="ellipse">
            <a:avLst/>
          </a:prstGeom>
          <a:solidFill>
            <a:srgbClr val="8B5CF6">
              <a:alpha val="30000"/>
            </a:srgbClr>
          </a:solidFill>
          <a:ln>
            <a:noFill/>
          </a:ln>
          <a:effectLst>
            <a:softEdge rad="187269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2194560" y="3474720"/>
            <a:ext cx="5120640" cy="5120640"/>
          </a:xfrm>
          <a:prstGeom prst="ellipse">
            <a:avLst/>
          </a:prstGeom>
          <a:solidFill>
            <a:srgbClr val="5B8CFF">
              <a:alpha val="24000"/>
            </a:srgbClr>
          </a:solidFill>
          <a:ln>
            <a:noFill/>
          </a:ln>
          <a:effectLst>
            <a:softEdge rad="163860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Ambient glow"/>
          <p:cNvSpPr/>
          <p:nvPr/>
        </p:nvSpPr>
        <p:spPr>
          <a:xfrm>
            <a:off x="4572000" y="5120640"/>
            <a:ext cx="3657600" cy="3657600"/>
          </a:xfrm>
          <a:prstGeom prst="ellipse">
            <a:avLst/>
          </a:prstGeom>
          <a:solidFill>
            <a:srgbClr val="EC4899">
              <a:alpha val="16000"/>
            </a:srgbClr>
          </a:solidFill>
          <a:ln>
            <a:noFill/>
          </a:ln>
          <a:effectLst>
            <a:softEdge rad="1170432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09 · CONCLUSION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3520440" cy="2331720"/>
          </a:xfrm>
          <a:prstGeom prst="roundRect">
            <a:avLst>
              <a:gd name="adj" fmla="val 549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59" y="169164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200" b="1" i="0">
                <a:solidFill>
                  <a:srgbClr val="5B8CFF"/>
                </a:solidFill>
                <a:latin typeface="Calibri"/>
              </a:rPr>
              <a:t>5 /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6888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modules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88036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At full proposal scope, integrated in one live web app and evaluated on held-out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508760"/>
            <a:ext cx="3520440" cy="2331720"/>
          </a:xfrm>
          <a:prstGeom prst="roundRect">
            <a:avLst>
              <a:gd name="adj" fmla="val 549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17720" y="169164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200" b="1" i="0">
                <a:solidFill>
                  <a:srgbClr val="8B5CF6"/>
                </a:solidFill>
                <a:latin typeface="Calibri"/>
              </a:rPr>
              <a:t>91.74%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POS tagging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88036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Spelling: 76.00% on synthetic typos and 61.9% on real misspellings within reach — all from scratch.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520440" cy="2331720"/>
          </a:xfrm>
          <a:prstGeom prst="roundRect">
            <a:avLst>
              <a:gd name="adj" fmla="val 549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80" y="169164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200" b="1" i="0">
                <a:solidFill>
                  <a:srgbClr val="EC4899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6888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weak spots, all diagnosed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Each has a measured cause: frequency bias at edit distance 2, out-of-range misspellings, Laplace smoothing.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Future work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Prefer 1-edit candidates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07208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807208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Context-aware spelling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65776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65776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Kneser-Ney smoothing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24344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Trigram HMM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582912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Optional hosting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10 · ACKNOWLEDGEMENT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AI Usage Acknowledgement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11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011680"/>
            <a:ext cx="9262872" cy="2651760"/>
          </a:xfrm>
          <a:prstGeom prst="roundRect">
            <a:avLst>
              <a:gd name="adj" fmla="val 862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2996" y="2331720"/>
            <a:ext cx="822960" cy="8229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82996" y="2331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F1F5FF"/>
                </a:solidFill>
                <a:latin typeface="Calibri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383280"/>
            <a:ext cx="816559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2000" b="0" i="0">
                <a:solidFill>
                  <a:srgbClr val="F1F5FF"/>
                </a:solidFill>
                <a:latin typeface="Calibri"/>
              </a:rPr>
              <a:t>This project was developed with the assistance of Claude (Anthropic), an AI tool, which was used for code implementation and debugging.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11 · REFERENCES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References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12 / 12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6002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5544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Damerau, F. J. (1964). A technique for computer detection and correction of spelling errors. CACM, 7(3).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5146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688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Kernighan, M. D., Church, K. W., &amp; Gale, W. A. (1990). A spelling correction program based on a noisy channel model. COLING.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3832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Katz, S. M. (1987). Estimation of probabilities from sparse data... IEEE Trans. ASSP, 35(3).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976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Brown, P. F. et al. (1992). Class-based n-gram models of natural language. Computational Linguistics, 18(4).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2578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8640" y="5257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120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Chen, S. F., &amp; Goodman, J. (1999). An empirical study of smoothing techniques for language modeling. CSL, 13(4).</a:t>
            </a:r>
          </a:p>
        </p:txBody>
      </p:sp>
      <p:sp>
        <p:nvSpPr>
          <p:cNvPr id="23" name="Oval 22"/>
          <p:cNvSpPr/>
          <p:nvPr/>
        </p:nvSpPr>
        <p:spPr>
          <a:xfrm>
            <a:off x="6231636" y="16002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31636" y="1600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0275" y="15544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Church, K. W. (1988). A stochastic parts program and noun phrase parser for unrestricted text. ANLP.</a:t>
            </a:r>
          </a:p>
        </p:txBody>
      </p:sp>
      <p:sp>
        <p:nvSpPr>
          <p:cNvPr id="26" name="Oval 25"/>
          <p:cNvSpPr/>
          <p:nvPr/>
        </p:nvSpPr>
        <p:spPr>
          <a:xfrm>
            <a:off x="6231636" y="25146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31636" y="2514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0275" y="24688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Viterbi, A. J. (1967). Error bounds for convolutional codes... IEEE Trans. Information Theory, 13(2).</a:t>
            </a:r>
          </a:p>
        </p:txBody>
      </p:sp>
      <p:sp>
        <p:nvSpPr>
          <p:cNvPr id="29" name="Oval 28"/>
          <p:cNvSpPr/>
          <p:nvPr/>
        </p:nvSpPr>
        <p:spPr>
          <a:xfrm>
            <a:off x="6231636" y="34290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31636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0275" y="33832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Norvig, P. (2009). Natural language corpus data. In Beautiful Data, O'Reilly, 219–242.</a:t>
            </a:r>
          </a:p>
        </p:txBody>
      </p:sp>
      <p:sp>
        <p:nvSpPr>
          <p:cNvPr id="32" name="Oval 31"/>
          <p:cNvSpPr/>
          <p:nvPr/>
        </p:nvSpPr>
        <p:spPr>
          <a:xfrm>
            <a:off x="6231636" y="43434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31636" y="4343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0275" y="42976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Brants, T. (2000). TnT — A statistical part-of-speech tagger. ANLP.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NLP-Based Intelligent Writing Assistant</dc:title>
  <dc:subject/>
  <dc:creator>SyntaxSquad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