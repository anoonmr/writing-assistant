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dPt>
            <c:idx val="0"/>
            <c:spPr>
              <a:solidFill>
                <a:srgbClr val="34D399"/>
              </a:solidFill>
            </c:spPr>
          </c:dPt>
          <c:dPt>
            <c:idx val="1"/>
            <c:spPr>
              <a:solidFill>
                <a:srgbClr val="5B8CFF"/>
              </a:solidFill>
            </c:spPr>
          </c:dPt>
          <c:dPt>
            <c:idx val="2"/>
            <c:spPr>
              <a:solidFill>
                <a:srgbClr val="8B5CF6"/>
              </a:solidFill>
            </c:spPr>
          </c:dPt>
          <c:dPt>
            <c:idx val="3"/>
            <c:spPr>
              <a:solidFill>
                <a:srgbClr val="EC4899"/>
              </a:solidFill>
            </c:spPr>
          </c:dPt>
          <c:cat>
            <c:strRef>
              <c:f>Sheet1!$A$2:$A$5</c:f>
              <c:strCache>
                <c:ptCount val="4"/>
                <c:pt idx="0">
                  <c:v>POS tagger  (8,242 / 8,984)</c:v>
                </c:pt>
                <c:pt idx="1">
                  <c:v>Spelling — synthetic typos  (152 / 200)</c:v>
                </c:pt>
                <c:pt idx="2">
                  <c:v>Spelling — real, within reach  (190 / 307)</c:v>
                </c:pt>
                <c:pt idx="3">
                  <c:v>Spelling — real, all  (190 / 500)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91.74</c:v>
                </c:pt>
                <c:pt idx="1">
                  <c:v>76.0</c:v>
                </c:pt>
                <c:pt idx="2">
                  <c:v>61.88925081433225</c:v>
                </c:pt>
                <c:pt idx="3">
                  <c:v>38.0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400" b="1">
                  <a:solidFill>
                    <a:srgbClr val="F1F5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B3766"/>
            </a:solidFill>
          </a:ln>
        </c:spPr>
        <c:txPr>
          <a:bodyPr/>
          <a:lstStyle/>
          <a:p>
            <a:pPr>
              <a:defRPr sz="1200">
                <a:solidFill>
                  <a:srgbClr val="A3AEC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A3AEC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Misses</c:v>
                </c:pt>
              </c:strCache>
            </c:strRef>
          </c:tx>
          <c:dPt>
            <c:idx val="0"/>
            <c:spPr>
              <a:solidFill>
                <a:srgbClr val="5B8CFF"/>
              </a:solidFill>
              <a:ln>
                <a:solidFill>
                  <a:srgbClr val="141B33"/>
                </a:solidFill>
              </a:ln>
            </c:spPr>
          </c:dPt>
          <c:dPt>
            <c:idx val="1"/>
            <c:spPr>
              <a:solidFill>
                <a:srgbClr val="8B5CF6"/>
              </a:solidFill>
              <a:ln>
                <a:solidFill>
                  <a:srgbClr val="141B33"/>
                </a:solidFill>
              </a:ln>
            </c:spPr>
          </c:dPt>
          <c:dPt>
            <c:idx val="2"/>
            <c:spPr>
              <a:solidFill>
                <a:srgbClr val="EC4899"/>
              </a:solidFill>
              <a:ln>
                <a:solidFill>
                  <a:srgbClr val="141B33"/>
                </a:solidFill>
              </a:ln>
            </c:spPr>
          </c:dPt>
          <c:dPt>
            <c:idx val="3"/>
            <c:spPr>
              <a:solidFill>
                <a:srgbClr val="FBBF24"/>
              </a:solidFill>
              <a:ln>
                <a:solidFill>
                  <a:srgbClr val="141B33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ED-2 word with a huge prior beat the ED-1 answer (haed → “and”, not “head”)</c:v>
                </c:pt>
                <c:pt idx="1">
                  <c:v>A different edit-distance-1 word won</c:v>
                </c:pt>
                <c:pt idx="2">
                  <c:v>Real-word typos (will → gill) — never flagged</c:v>
                </c:pt>
                <c:pt idx="3">
                  <c:v>Target word not in the vocabulary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11</c:v>
                </c:pt>
                <c:pt idx="2">
                  <c:v>9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plotVisOnly val="1"/>
    <c:dispBlanksAs val="gap"/>
    <c:showDLblsOverMax val="0"/>
  </c:chart>
  <c:txPr>
    <a:bodyPr/>
    <a:lstStyle/>
    <a:p>
      <a:pPr>
        <a:defRPr sz="1200">
          <a:solidFill>
            <a:srgbClr val="F1F5FF"/>
          </a:solidFill>
          <a:latin typeface="Calibri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mbient glow"/>
          <p:cNvSpPr/>
          <p:nvPr/>
        </p:nvSpPr>
        <p:spPr>
          <a:xfrm>
            <a:off x="7589520" y="-2377440"/>
            <a:ext cx="5852160" cy="5852160"/>
          </a:xfrm>
          <a:prstGeom prst="ellipse">
            <a:avLst/>
          </a:prstGeom>
          <a:solidFill>
            <a:srgbClr val="8B5CF6">
              <a:alpha val="30000"/>
            </a:srgbClr>
          </a:solidFill>
          <a:ln>
            <a:noFill/>
          </a:ln>
          <a:effectLst>
            <a:softEdge rad="1872691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Ambient glow"/>
          <p:cNvSpPr/>
          <p:nvPr/>
        </p:nvSpPr>
        <p:spPr>
          <a:xfrm>
            <a:off x="-2194560" y="3474720"/>
            <a:ext cx="5120640" cy="5120640"/>
          </a:xfrm>
          <a:prstGeom prst="ellipse">
            <a:avLst/>
          </a:prstGeom>
          <a:solidFill>
            <a:srgbClr val="5B8CFF">
              <a:alpha val="24000"/>
            </a:srgbClr>
          </a:solidFill>
          <a:ln>
            <a:noFill/>
          </a:ln>
          <a:effectLst>
            <a:softEdge rad="1638604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Ambient glow"/>
          <p:cNvSpPr/>
          <p:nvPr/>
        </p:nvSpPr>
        <p:spPr>
          <a:xfrm>
            <a:off x="4572000" y="5120640"/>
            <a:ext cx="3657600" cy="3657600"/>
          </a:xfrm>
          <a:prstGeom prst="ellipse">
            <a:avLst/>
          </a:prstGeom>
          <a:solidFill>
            <a:srgbClr val="EC4899">
              <a:alpha val="16000"/>
            </a:srgbClr>
          </a:solidFill>
          <a:ln>
            <a:noFill/>
          </a:ln>
          <a:effectLst>
            <a:softEdge rad="1170432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F472B6"/>
                </a:solidFill>
                <a:latin typeface="Calibri"/>
              </a:rPr>
              <a:t>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694944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600" b="1" i="0">
                <a:solidFill>
                  <a:srgbClr val="F1F5FF"/>
                </a:solidFill>
                <a:latin typeface="Calibri"/>
              </a:rPr>
              <a:t>NLP-Based Intelligent Writing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>
                <a:solidFill>
                  <a:srgbClr val="C4B5FD"/>
                </a:solidFill>
                <a:latin typeface="Calibri"/>
              </a:rPr>
              <a:t>Autocorrect, Autocomplete, and POS-Aware Suggestions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94760"/>
            <a:ext cx="1426464" cy="502920"/>
          </a:xfrm>
          <a:prstGeom prst="roundRect">
            <a:avLst>
              <a:gd name="adj" fmla="val 21818"/>
            </a:avLst>
          </a:prstGeom>
          <a:solidFill>
            <a:srgbClr val="2A1F4A"/>
          </a:solidFill>
          <a:ln w="9525">
            <a:solidFill>
              <a:srgbClr val="5B3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142646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A3AECF"/>
                </a:solidFill>
                <a:latin typeface="Calibri"/>
              </a:rPr>
              <a:t>teh</a:t>
            </a:r>
            <a:r>
              <a:rPr sz="1500" b="0" i="0">
                <a:solidFill>
                  <a:srgbClr val="A3AECF"/>
                </a:solidFill>
                <a:latin typeface="Calibri"/>
              </a:rPr>
              <a:t>  →  </a:t>
            </a:r>
            <a:r>
              <a:rPr sz="1500" b="1" i="0">
                <a:solidFill>
                  <a:srgbClr val="F472B6"/>
                </a:solidFill>
                <a:latin typeface="Calibri"/>
              </a:rPr>
              <a:t>the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3794760"/>
            <a:ext cx="1952244" cy="502920"/>
          </a:xfrm>
          <a:prstGeom prst="roundRect">
            <a:avLst>
              <a:gd name="adj" fmla="val 21818"/>
            </a:avLst>
          </a:prstGeom>
          <a:solidFill>
            <a:srgbClr val="2A1F4A"/>
          </a:solidFill>
          <a:ln w="9525">
            <a:solidFill>
              <a:srgbClr val="5B3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249424" y="3794760"/>
            <a:ext cx="195224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A3AECF"/>
                </a:solidFill>
                <a:latin typeface="Calibri"/>
              </a:rPr>
              <a:t>jumpd</a:t>
            </a:r>
            <a:r>
              <a:rPr sz="1500" b="0" i="0">
                <a:solidFill>
                  <a:srgbClr val="A3AECF"/>
                </a:solidFill>
                <a:latin typeface="Calibri"/>
              </a:rPr>
              <a:t>  →  </a:t>
            </a:r>
            <a:r>
              <a:rPr sz="1500" b="1" i="0">
                <a:solidFill>
                  <a:srgbClr val="F472B6"/>
                </a:solidFill>
                <a:latin typeface="Calibri"/>
              </a:rPr>
              <a:t>jumped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4548" y="3794760"/>
            <a:ext cx="1531620" cy="502920"/>
          </a:xfrm>
          <a:prstGeom prst="roundRect">
            <a:avLst>
              <a:gd name="adj" fmla="val 21818"/>
            </a:avLst>
          </a:prstGeom>
          <a:solidFill>
            <a:srgbClr val="2A1F4A"/>
          </a:solidFill>
          <a:ln w="9525">
            <a:solidFill>
              <a:srgbClr val="5B3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384548" y="3794760"/>
            <a:ext cx="15316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A3AECF"/>
                </a:solidFill>
                <a:latin typeface="Calibri"/>
              </a:rPr>
              <a:t>ovr</a:t>
            </a:r>
            <a:r>
              <a:rPr sz="1500" b="0" i="0">
                <a:solidFill>
                  <a:srgbClr val="A3AECF"/>
                </a:solidFill>
                <a:latin typeface="Calibri"/>
              </a:rPr>
              <a:t>  →  </a:t>
            </a:r>
            <a:r>
              <a:rPr sz="1500" b="1" i="0">
                <a:solidFill>
                  <a:srgbClr val="F472B6"/>
                </a:solidFill>
                <a:latin typeface="Calibri"/>
              </a:rPr>
              <a:t>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A3AECF"/>
                </a:solidFill>
                <a:latin typeface="Calibri"/>
              </a:rPr>
              <a:t>Spell correction  ·  next-word prediction  ·  POS tagging — built from scratch in Python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051560"/>
            <a:ext cx="3749039" cy="3291840"/>
          </a:xfrm>
          <a:prstGeom prst="roundRect">
            <a:avLst>
              <a:gd name="adj" fmla="val 5555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92440" y="1280160"/>
            <a:ext cx="3200400" cy="438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472B6"/>
                </a:solidFill>
                <a:latin typeface="Calibri"/>
              </a:rPr>
              <a:t>TEAM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1F5FF"/>
                </a:solidFill>
                <a:latin typeface="Calibri"/>
              </a:rPr>
              <a:t>SyntaxSquad</a:t>
            </a:r>
          </a:p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472B6"/>
                </a:solidFill>
                <a:latin typeface="Calibri"/>
              </a:rPr>
              <a:t>MEMBERS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1F5FF"/>
                </a:solidFill>
                <a:latin typeface="Calibri"/>
              </a:rPr>
              <a:t>Anoon M R  ·  25MCAR0179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1F5FF"/>
                </a:solidFill>
                <a:latin typeface="Calibri"/>
              </a:rPr>
              <a:t>Aman Kumawat  ·  25MCAR0023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1F5FF"/>
                </a:solidFill>
                <a:latin typeface="Calibri"/>
              </a:rPr>
              <a:t>Adithya Krishnan T N  ·  25MCAR0003</a:t>
            </a:r>
          </a:p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472B6"/>
                </a:solidFill>
                <a:latin typeface="Calibri"/>
              </a:rPr>
              <a:t>FACULTY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1F5FF"/>
                </a:solidFill>
                <a:latin typeface="Calibri"/>
              </a:rPr>
              <a:t>Dr. Sharal Coelho</a:t>
            </a:r>
          </a:p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472B6"/>
                </a:solidFill>
                <a:latin typeface="Calibri"/>
              </a:rPr>
              <a:t>COURSE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1F5FF"/>
                </a:solidFill>
                <a:latin typeface="Calibri"/>
              </a:rPr>
              <a:t>Natural Language Processing (25MCAAI303)</a:t>
            </a:r>
          </a:p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472B6"/>
                </a:solidFill>
                <a:latin typeface="Calibri"/>
              </a:rPr>
              <a:t>DEPARTMENT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1F5FF"/>
                </a:solidFill>
                <a:latin typeface="Calibri"/>
              </a:rPr>
              <a:t>MCA · JAIN (Deemed-to-be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mbient glow"/>
          <p:cNvSpPr/>
          <p:nvPr/>
        </p:nvSpPr>
        <p:spPr>
          <a:xfrm>
            <a:off x="9326880" y="-2011680"/>
            <a:ext cx="4206240" cy="4206240"/>
          </a:xfrm>
          <a:prstGeom prst="ellipse">
            <a:avLst/>
          </a:prstGeom>
          <a:solidFill>
            <a:srgbClr val="8B5CF6">
              <a:alpha val="22000"/>
            </a:srgbClr>
          </a:solidFill>
          <a:ln>
            <a:noFill/>
          </a:ln>
          <a:effectLst>
            <a:softEdge rad="1345996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Ambient glow"/>
          <p:cNvSpPr/>
          <p:nvPr/>
        </p:nvSpPr>
        <p:spPr>
          <a:xfrm>
            <a:off x="-1828800" y="4572000"/>
            <a:ext cx="3840480" cy="3840480"/>
          </a:xfrm>
          <a:prstGeom prst="ellipse">
            <a:avLst/>
          </a:prstGeom>
          <a:solidFill>
            <a:srgbClr val="5B8CFF">
              <a:alpha val="16000"/>
            </a:srgbClr>
          </a:solidFill>
          <a:ln>
            <a:noFill/>
          </a:ln>
          <a:effectLst>
            <a:softEdge rad="1228953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alibri"/>
              </a:rPr>
              <a:t>01 · INTRODUCTION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F1F5FF"/>
                </a:solidFill>
                <a:latin typeface="Calibri"/>
              </a:rPr>
              <a:t>Introduction &amp; Problem Statement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A3AECF"/>
                </a:solidFill>
                <a:latin typeface="Calibri"/>
              </a:rPr>
              <a:t>SyntaxSquad  ·  NLP-Based Intelligent Writing Assistant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3AECF"/>
                </a:solidFill>
                <a:latin typeface="Calibri"/>
              </a:rPr>
              <a:t>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20440" cy="2103120"/>
          </a:xfrm>
          <a:prstGeom prst="roundRect">
            <a:avLst>
              <a:gd name="adj" fmla="val 6086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22959" y="1783080"/>
            <a:ext cx="502920" cy="50292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1F5FF"/>
                </a:solidFill>
                <a:latin typeface="Calibri"/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F1F5FF"/>
                </a:solidFill>
                <a:latin typeface="Calibri"/>
              </a:rPr>
              <a:t>Background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46888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A3AECF"/>
                </a:solidFill>
                <a:latin typeface="Calibri"/>
              </a:rPr>
              <a:t>A writing assistant built from scratch in Python — spell correction, next-word prediction and POS-aware suggestions.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54480"/>
            <a:ext cx="3520440" cy="2103120"/>
          </a:xfrm>
          <a:prstGeom prst="roundRect">
            <a:avLst>
              <a:gd name="adj" fmla="val 6086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617720" y="1783080"/>
            <a:ext cx="502920" cy="50292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17720" y="17830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1F5FF"/>
                </a:solidFill>
                <a:latin typeface="Calibri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182880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F1F5FF"/>
                </a:solidFill>
                <a:latin typeface="Calibri"/>
              </a:rPr>
              <a:t>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6888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A3AECF"/>
                </a:solidFill>
                <a:latin typeface="Calibri"/>
              </a:rPr>
              <a:t>Spell checkers ignore real error patterns; autocomplete ignores grammar.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554480"/>
            <a:ext cx="3520440" cy="2103120"/>
          </a:xfrm>
          <a:prstGeom prst="roundRect">
            <a:avLst>
              <a:gd name="adj" fmla="val 6086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412480" y="1783080"/>
            <a:ext cx="502920" cy="50292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12480" y="17830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1F5FF"/>
                </a:solidFill>
                <a:latin typeface="Calibri"/>
              </a:rPr>
              <a:t>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182880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F1F5FF"/>
                </a:solidFill>
                <a:latin typeface="Calibri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46888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A3AECF"/>
                </a:solidFill>
                <a:latin typeface="Calibri"/>
              </a:rPr>
              <a:t>Emails, messages and academic writing all suffer from context-blind corrections and ungrammatical suggestions.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F1F5FF"/>
                </a:solidFill>
                <a:latin typeface="Calibri"/>
              </a:rPr>
              <a:t>Objectives — five modules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34840"/>
            <a:ext cx="2057400" cy="1691640"/>
          </a:xfrm>
          <a:prstGeom prst="roundRect">
            <a:avLst>
              <a:gd name="adj" fmla="val 7567"/>
            </a:avLst>
          </a:prstGeom>
          <a:solidFill>
            <a:srgbClr val="1B2445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749808" y="4617720"/>
            <a:ext cx="411480" cy="41148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49808" y="46177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1F5FF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13892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F1F5FF"/>
                </a:solidFill>
                <a:latin typeface="Calibri"/>
              </a:rPr>
              <a:t>Tokenizer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468112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A3AECF"/>
                </a:solidFill>
                <a:latin typeface="Calibri"/>
              </a:rPr>
              <a:t>Regex-based word splitting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07208" y="4434840"/>
            <a:ext cx="2057400" cy="1691640"/>
          </a:xfrm>
          <a:prstGeom prst="roundRect">
            <a:avLst>
              <a:gd name="adj" fmla="val 7567"/>
            </a:avLst>
          </a:prstGeom>
          <a:solidFill>
            <a:srgbClr val="1B2445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3008376" y="4617720"/>
            <a:ext cx="411480" cy="41148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008376" y="46177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1F5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08376" y="513892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F1F5FF"/>
                </a:solidFill>
                <a:latin typeface="Calibri"/>
              </a:rPr>
              <a:t>Spell corrector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08376" y="5468112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A3AECF"/>
                </a:solidFill>
                <a:latin typeface="Calibri"/>
              </a:rPr>
              <a:t>Noisy Channel, learned confusion matrix, edit distance ≤ 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65776" y="4434840"/>
            <a:ext cx="2057400" cy="1691640"/>
          </a:xfrm>
          <a:prstGeom prst="roundRect">
            <a:avLst>
              <a:gd name="adj" fmla="val 7567"/>
            </a:avLst>
          </a:prstGeom>
          <a:solidFill>
            <a:srgbClr val="1B2445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5266944" y="4617720"/>
            <a:ext cx="411480" cy="41148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266944" y="46177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1F5FF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66944" y="513892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F1F5FF"/>
                </a:solidFill>
                <a:latin typeface="Calibri"/>
              </a:rPr>
              <a:t>N-Gram 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66944" y="5468112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A3AECF"/>
                </a:solidFill>
                <a:latin typeface="Calibri"/>
              </a:rPr>
              <a:t>Bigram + trigram with back-off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24344" y="4434840"/>
            <a:ext cx="2057400" cy="1691640"/>
          </a:xfrm>
          <a:prstGeom prst="roundRect">
            <a:avLst>
              <a:gd name="adj" fmla="val 7567"/>
            </a:avLst>
          </a:prstGeom>
          <a:solidFill>
            <a:srgbClr val="1B2445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7525512" y="4617720"/>
            <a:ext cx="411480" cy="41148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25512" y="46177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1F5FF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25512" y="513892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F1F5FF"/>
                </a:solidFill>
                <a:latin typeface="Calibri"/>
              </a:rPr>
              <a:t>POS tagger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25512" y="5468112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A3AECF"/>
                </a:solidFill>
                <a:latin typeface="Calibri"/>
              </a:rPr>
              <a:t>HMM decoded with Viterbi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82912" y="4434840"/>
            <a:ext cx="2057400" cy="1691640"/>
          </a:xfrm>
          <a:prstGeom prst="roundRect">
            <a:avLst>
              <a:gd name="adj" fmla="val 7567"/>
            </a:avLst>
          </a:prstGeom>
          <a:solidFill>
            <a:srgbClr val="1B2445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9784080" y="4617720"/>
            <a:ext cx="411480" cy="41148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784080" y="46177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1F5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513892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F1F5FF"/>
                </a:solidFill>
                <a:latin typeface="Calibri"/>
              </a:rPr>
              <a:t>Live Flask UI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5468112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A3AECF"/>
                </a:solidFill>
                <a:latin typeface="Calibri"/>
              </a:rPr>
              <a:t>Debounced AJAX, updates as you 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mbient glow"/>
          <p:cNvSpPr/>
          <p:nvPr/>
        </p:nvSpPr>
        <p:spPr>
          <a:xfrm>
            <a:off x="9326880" y="-2011680"/>
            <a:ext cx="4206240" cy="4206240"/>
          </a:xfrm>
          <a:prstGeom prst="ellipse">
            <a:avLst/>
          </a:prstGeom>
          <a:solidFill>
            <a:srgbClr val="8B5CF6">
              <a:alpha val="22000"/>
            </a:srgbClr>
          </a:solidFill>
          <a:ln>
            <a:noFill/>
          </a:ln>
          <a:effectLst>
            <a:softEdge rad="1345996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Ambient glow"/>
          <p:cNvSpPr/>
          <p:nvPr/>
        </p:nvSpPr>
        <p:spPr>
          <a:xfrm>
            <a:off x="-1828800" y="4572000"/>
            <a:ext cx="3840480" cy="3840480"/>
          </a:xfrm>
          <a:prstGeom prst="ellipse">
            <a:avLst/>
          </a:prstGeom>
          <a:solidFill>
            <a:srgbClr val="5B8CFF">
              <a:alpha val="16000"/>
            </a:srgbClr>
          </a:solidFill>
          <a:ln>
            <a:noFill/>
          </a:ln>
          <a:effectLst>
            <a:softEdge rad="1228953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alibri"/>
              </a:rPr>
              <a:t>02 · LITERATURE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F1F5FF"/>
                </a:solidFill>
                <a:latin typeface="Calibri"/>
              </a:rPr>
              <a:t>Literature Survey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A3AECF"/>
                </a:solidFill>
                <a:latin typeface="Calibri"/>
              </a:rPr>
              <a:t>SyntaxSquad  ·  NLP-Based Intelligent Writing Assistant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3AECF"/>
                </a:solidFill>
                <a:latin typeface="Calibri"/>
              </a:rPr>
              <a:t>3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7340" y="1947672"/>
            <a:ext cx="8961120" cy="36576"/>
          </a:xfrm>
          <a:prstGeom prst="rect">
            <a:avLst/>
          </a:prstGeom>
          <a:gradFill rotWithShape="1">
            <a:gsLst>
              <a:gs pos="0">
                <a:srgbClr val="5B8CFF"/>
              </a:gs>
              <a:gs pos="50000">
                <a:srgbClr val="8B5CF6"/>
              </a:gs>
              <a:gs pos="100000">
                <a:srgbClr val="EC48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20140" y="1508760"/>
            <a:ext cx="914400" cy="91440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20140" y="15087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1F5FF"/>
                </a:solidFill>
                <a:latin typeface="Calibri"/>
              </a:rPr>
              <a:t>1964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2057400" cy="2240280"/>
          </a:xfrm>
          <a:prstGeom prst="roundRect">
            <a:avLst>
              <a:gd name="adj" fmla="val 6222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F472B6"/>
                </a:solidFill>
                <a:latin typeface="Calibri"/>
              </a:rPr>
              <a:t>CACM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F1F5FF"/>
                </a:solidFill>
                <a:latin typeface="Calibri"/>
              </a:rPr>
              <a:t>Damerau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A3AECF"/>
                </a:solidFill>
                <a:latin typeface="Calibri"/>
              </a:rPr>
              <a:t>~80% of real typos are a single edit</a:t>
            </a:r>
          </a:p>
        </p:txBody>
      </p:sp>
      <p:sp>
        <p:nvSpPr>
          <p:cNvPr id="15" name="Oval 14"/>
          <p:cNvSpPr/>
          <p:nvPr/>
        </p:nvSpPr>
        <p:spPr>
          <a:xfrm>
            <a:off x="3360420" y="1508760"/>
            <a:ext cx="914400" cy="91440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360420" y="15087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1F5FF"/>
                </a:solidFill>
                <a:latin typeface="Calibri"/>
              </a:rPr>
              <a:t>1967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2697480"/>
            <a:ext cx="2057400" cy="2240280"/>
          </a:xfrm>
          <a:prstGeom prst="roundRect">
            <a:avLst>
              <a:gd name="adj" fmla="val 6222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971800" y="28803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F472B6"/>
                </a:solidFill>
                <a:latin typeface="Calibri"/>
              </a:rPr>
              <a:t>IEEE Trans. Info. Theory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15468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F1F5FF"/>
                </a:solidFill>
                <a:latin typeface="Calibri"/>
              </a:rPr>
              <a:t>Viterbi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794760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A3AECF"/>
                </a:solidFill>
                <a:latin typeface="Calibri"/>
              </a:rPr>
              <a:t>The decoding algorithm our POS tagger uses</a:t>
            </a:r>
          </a:p>
        </p:txBody>
      </p:sp>
      <p:sp>
        <p:nvSpPr>
          <p:cNvPr id="21" name="Oval 20"/>
          <p:cNvSpPr/>
          <p:nvPr/>
        </p:nvSpPr>
        <p:spPr>
          <a:xfrm>
            <a:off x="5600700" y="1508760"/>
            <a:ext cx="914400" cy="91440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600700" y="15087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1F5FF"/>
                </a:solidFill>
                <a:latin typeface="Calibri"/>
              </a:rPr>
              <a:t>1988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697480"/>
            <a:ext cx="2057400" cy="2240280"/>
          </a:xfrm>
          <a:prstGeom prst="roundRect">
            <a:avLst>
              <a:gd name="adj" fmla="val 6222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212080" y="28803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F472B6"/>
                </a:solidFill>
                <a:latin typeface="Calibri"/>
              </a:rPr>
              <a:t>ANLP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15468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F1F5FF"/>
                </a:solidFill>
                <a:latin typeface="Calibri"/>
              </a:rPr>
              <a:t>Church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794760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A3AECF"/>
                </a:solidFill>
                <a:latin typeface="Calibri"/>
              </a:rPr>
              <a:t>HMM-style POS tagger on the Brown Corpus, 95–99% accuracy</a:t>
            </a:r>
          </a:p>
        </p:txBody>
      </p:sp>
      <p:sp>
        <p:nvSpPr>
          <p:cNvPr id="27" name="Oval 26"/>
          <p:cNvSpPr/>
          <p:nvPr/>
        </p:nvSpPr>
        <p:spPr>
          <a:xfrm>
            <a:off x="7840979" y="1508760"/>
            <a:ext cx="914400" cy="91440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40979" y="15087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1F5FF"/>
                </a:solidFill>
                <a:latin typeface="Calibri"/>
              </a:rPr>
              <a:t>1990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2697480"/>
            <a:ext cx="2057400" cy="2240280"/>
          </a:xfrm>
          <a:prstGeom prst="roundRect">
            <a:avLst>
              <a:gd name="adj" fmla="val 6222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52360" y="28803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F472B6"/>
                </a:solidFill>
                <a:latin typeface="Calibri"/>
              </a:rPr>
              <a:t>COLING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15468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F1F5FF"/>
                </a:solidFill>
                <a:latin typeface="Calibri"/>
              </a:rPr>
              <a:t>Kernighan, Church &amp; Gale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794760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A3AECF"/>
                </a:solidFill>
                <a:latin typeface="Calibri"/>
              </a:rPr>
              <a:t>Noisy Channel spelling correction with learned confusion matrices — basis of our corrector</a:t>
            </a:r>
          </a:p>
        </p:txBody>
      </p:sp>
      <p:sp>
        <p:nvSpPr>
          <p:cNvPr id="33" name="Oval 32"/>
          <p:cNvSpPr/>
          <p:nvPr/>
        </p:nvSpPr>
        <p:spPr>
          <a:xfrm>
            <a:off x="10081260" y="1508760"/>
            <a:ext cx="914400" cy="91440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081260" y="15087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1F5FF"/>
                </a:solidFill>
                <a:latin typeface="Calibri"/>
              </a:rPr>
              <a:t>1999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2697480"/>
            <a:ext cx="2057400" cy="2240280"/>
          </a:xfrm>
          <a:prstGeom prst="roundRect">
            <a:avLst>
              <a:gd name="adj" fmla="val 6222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692640" y="28803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F472B6"/>
                </a:solidFill>
                <a:latin typeface="Calibri"/>
              </a:rPr>
              <a:t>CSL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15468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F1F5FF"/>
                </a:solidFill>
                <a:latin typeface="Calibri"/>
              </a:rPr>
              <a:t>Chen &amp; Goodman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794760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A3AECF"/>
                </a:solidFill>
                <a:latin typeface="Calibri"/>
              </a:rPr>
              <a:t>Smoothing survey; explains our perplexity results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14736"/>
            </a:avLst>
          </a:prstGeom>
          <a:solidFill>
            <a:srgbClr val="2A1F4A"/>
          </a:solidFill>
          <a:ln w="9525">
            <a:solidFill>
              <a:srgbClr val="5B3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68680" y="521208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472B6"/>
                </a:solidFill>
                <a:latin typeface="Calibri"/>
              </a:rPr>
              <a:t>Research gap:  </a:t>
            </a:r>
            <a:r>
              <a:rPr sz="1600" b="0" i="0">
                <a:solidFill>
                  <a:srgbClr val="F1F5FF"/>
                </a:solidFill>
                <a:latin typeface="Calibri"/>
              </a:rPr>
              <a:t>these techniques are usually studied in isolation — we let the HMM filter the N-gram LM's suggestions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mbient glow"/>
          <p:cNvSpPr/>
          <p:nvPr/>
        </p:nvSpPr>
        <p:spPr>
          <a:xfrm>
            <a:off x="9326880" y="-2011680"/>
            <a:ext cx="4206240" cy="4206240"/>
          </a:xfrm>
          <a:prstGeom prst="ellipse">
            <a:avLst/>
          </a:prstGeom>
          <a:solidFill>
            <a:srgbClr val="8B5CF6">
              <a:alpha val="22000"/>
            </a:srgbClr>
          </a:solidFill>
          <a:ln>
            <a:noFill/>
          </a:ln>
          <a:effectLst>
            <a:softEdge rad="1345996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Ambient glow"/>
          <p:cNvSpPr/>
          <p:nvPr/>
        </p:nvSpPr>
        <p:spPr>
          <a:xfrm>
            <a:off x="-1828800" y="4572000"/>
            <a:ext cx="3840480" cy="3840480"/>
          </a:xfrm>
          <a:prstGeom prst="ellipse">
            <a:avLst/>
          </a:prstGeom>
          <a:solidFill>
            <a:srgbClr val="5B8CFF">
              <a:alpha val="16000"/>
            </a:srgbClr>
          </a:solidFill>
          <a:ln>
            <a:noFill/>
          </a:ln>
          <a:effectLst>
            <a:softEdge rad="1228953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alibri"/>
              </a:rPr>
              <a:t>03 · METHODOLOGY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F1F5FF"/>
                </a:solidFill>
                <a:latin typeface="Calibri"/>
              </a:rPr>
              <a:t>Proposed Methodology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A3AECF"/>
                </a:solidFill>
                <a:latin typeface="Calibri"/>
              </a:rPr>
              <a:t>SyntaxSquad  ·  NLP-Based Intelligent Writing Assistant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3AECF"/>
                </a:solidFill>
                <a:latin typeface="Calibri"/>
              </a:rPr>
              <a:t>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371600" cy="1051560"/>
          </a:xfrm>
          <a:prstGeom prst="roundRect">
            <a:avLst>
              <a:gd name="adj" fmla="val 12173"/>
            </a:avLst>
          </a:prstGeom>
          <a:solidFill>
            <a:srgbClr val="141B33"/>
          </a:solidFill>
          <a:ln w="1905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1792" y="1645920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 i="0">
                <a:solidFill>
                  <a:srgbClr val="F1F5FF"/>
                </a:solidFill>
                <a:latin typeface="Calibri"/>
              </a:rPr>
              <a:t>Raw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029968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A3AECF"/>
                </a:solidFill>
                <a:latin typeface="Calibri"/>
              </a:rPr>
              <a:t>user input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1984248" y="1947672"/>
            <a:ext cx="146304" cy="164592"/>
          </a:xfrm>
          <a:prstGeom prst="triangle">
            <a:avLst/>
          </a:prstGeom>
          <a:solidFill>
            <a:srgbClr val="6A8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2167128" y="1508760"/>
            <a:ext cx="1371600" cy="1051560"/>
          </a:xfrm>
          <a:prstGeom prst="roundRect">
            <a:avLst>
              <a:gd name="adj" fmla="val 12173"/>
            </a:avLst>
          </a:prstGeom>
          <a:solidFill>
            <a:srgbClr val="141B33"/>
          </a:solidFill>
          <a:ln w="19050">
            <a:solidFill>
              <a:srgbClr val="6A80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240280" y="1645920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 i="0">
                <a:solidFill>
                  <a:srgbClr val="F1F5FF"/>
                </a:solidFill>
                <a:latin typeface="Calibri"/>
              </a:rPr>
              <a:t>Tokenizer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029968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A3AECF"/>
                </a:solidFill>
                <a:latin typeface="Calibri"/>
              </a:rPr>
              <a:t>regex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3602736" y="1947672"/>
            <a:ext cx="146304" cy="164592"/>
          </a:xfrm>
          <a:prstGeom prst="triangle">
            <a:avLst/>
          </a:prstGeom>
          <a:solidFill>
            <a:srgbClr val="797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785615" y="1508760"/>
            <a:ext cx="1371600" cy="1051560"/>
          </a:xfrm>
          <a:prstGeom prst="roundRect">
            <a:avLst>
              <a:gd name="adj" fmla="val 12173"/>
            </a:avLst>
          </a:prstGeom>
          <a:solidFill>
            <a:srgbClr val="141B33"/>
          </a:solidFill>
          <a:ln w="19050">
            <a:solidFill>
              <a:srgbClr val="797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858768" y="1645920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 i="0">
                <a:solidFill>
                  <a:srgbClr val="F1F5FF"/>
                </a:solidFill>
                <a:latin typeface="Calibri"/>
              </a:rPr>
              <a:t>Spell corrector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2029968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A3AECF"/>
                </a:solidFill>
                <a:latin typeface="Calibri"/>
              </a:rPr>
              <a:t>Noisy Channel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5221224" y="1947672"/>
            <a:ext cx="146304" cy="164592"/>
          </a:xfrm>
          <a:prstGeom prst="triangl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404104" y="1508760"/>
            <a:ext cx="1371600" cy="1051560"/>
          </a:xfrm>
          <a:prstGeom prst="roundRect">
            <a:avLst>
              <a:gd name="adj" fmla="val 12173"/>
            </a:avLst>
          </a:prstGeom>
          <a:solidFill>
            <a:srgbClr val="141B33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77256" y="1645920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 i="0">
                <a:solidFill>
                  <a:srgbClr val="F1F5FF"/>
                </a:solidFill>
                <a:latin typeface="Calibri"/>
              </a:rPr>
              <a:t>POS tagger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77256" y="2029968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A3AECF"/>
                </a:solidFill>
                <a:latin typeface="Calibri"/>
              </a:rPr>
              <a:t>HMM + Viterbi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6839712" y="1947672"/>
            <a:ext cx="146304" cy="164592"/>
          </a:xfrm>
          <a:prstGeom prst="triangle">
            <a:avLst/>
          </a:prstGeom>
          <a:solidFill>
            <a:srgbClr val="AB5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7022592" y="1508760"/>
            <a:ext cx="1371600" cy="1051560"/>
          </a:xfrm>
          <a:prstGeom prst="roundRect">
            <a:avLst>
              <a:gd name="adj" fmla="val 12173"/>
            </a:avLst>
          </a:prstGeom>
          <a:solidFill>
            <a:srgbClr val="141B33"/>
          </a:solidFill>
          <a:ln w="19050">
            <a:solidFill>
              <a:srgbClr val="AB5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95744" y="1645920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 i="0">
                <a:solidFill>
                  <a:srgbClr val="F1F5FF"/>
                </a:solidFill>
                <a:latin typeface="Calibri"/>
              </a:rPr>
              <a:t>N-Gram 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2029968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A3AECF"/>
                </a:solidFill>
                <a:latin typeface="Calibri"/>
              </a:rPr>
              <a:t>trigram → bigram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8458200" y="1947672"/>
            <a:ext cx="146304" cy="164592"/>
          </a:xfrm>
          <a:prstGeom prst="triangle">
            <a:avLst/>
          </a:prstGeom>
          <a:solidFill>
            <a:srgbClr val="CB4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8641080" y="1508760"/>
            <a:ext cx="1371600" cy="1051560"/>
          </a:xfrm>
          <a:prstGeom prst="roundRect">
            <a:avLst>
              <a:gd name="adj" fmla="val 12173"/>
            </a:avLst>
          </a:prstGeom>
          <a:solidFill>
            <a:srgbClr val="141B33"/>
          </a:solidFill>
          <a:ln w="19050">
            <a:solidFill>
              <a:srgbClr val="CB4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714232" y="1645920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 i="0">
                <a:solidFill>
                  <a:srgbClr val="F1F5FF"/>
                </a:solidFill>
                <a:latin typeface="Calibri"/>
              </a:rPr>
              <a:t>POS filter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14232" y="2029968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A3AECF"/>
                </a:solidFill>
                <a:latin typeface="Calibri"/>
              </a:rPr>
              <a:t>match expected tag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10076688" y="1947672"/>
            <a:ext cx="146304" cy="164592"/>
          </a:xfrm>
          <a:prstGeom prst="triangl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0259568" y="1508760"/>
            <a:ext cx="1371600" cy="1051560"/>
          </a:xfrm>
          <a:prstGeom prst="roundRect">
            <a:avLst>
              <a:gd name="adj" fmla="val 12173"/>
            </a:avLst>
          </a:prstGeom>
          <a:solidFill>
            <a:srgbClr val="141B33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332720" y="1645920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 i="0">
                <a:solidFill>
                  <a:srgbClr val="F1F5FF"/>
                </a:solidFill>
                <a:latin typeface="Calibri"/>
              </a:rPr>
              <a:t>Flask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2029968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A3AECF"/>
                </a:solidFill>
                <a:latin typeface="Calibri"/>
              </a:rPr>
              <a:t>live AJAX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926080"/>
            <a:ext cx="5408676" cy="1463040"/>
          </a:xfrm>
          <a:prstGeom prst="roundRect">
            <a:avLst>
              <a:gd name="adj" fmla="val 8750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22959" y="3227832"/>
            <a:ext cx="182880" cy="18288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143000" y="3127248"/>
            <a:ext cx="45399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1F5FF"/>
                </a:solidFill>
                <a:latin typeface="Calibri"/>
              </a:rPr>
              <a:t>Spell corrector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" y="3566160"/>
            <a:ext cx="486003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A3AECF"/>
                </a:solidFill>
                <a:latin typeface="Calibri"/>
              </a:rPr>
              <a:t>Candidates within edit distance 2, ranked by P(word) × P(typo | word). P(typo | word) learned from 12,356 real single-edit misspellings.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1636" y="2926080"/>
            <a:ext cx="5408676" cy="1463040"/>
          </a:xfrm>
          <a:prstGeom prst="roundRect">
            <a:avLst>
              <a:gd name="adj" fmla="val 8750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505955" y="3227832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825996" y="3127248"/>
            <a:ext cx="45399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1F5FF"/>
                </a:solidFill>
                <a:latin typeface="Calibri"/>
              </a:rPr>
              <a:t>N-Gram language 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5955" y="3566160"/>
            <a:ext cx="486003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A3AECF"/>
                </a:solidFill>
                <a:latin typeface="Calibri"/>
              </a:rPr>
              <a:t>Trigram with back-off to bigram, Laplace smoothing; trained on Brown Corpus sentences.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617720"/>
            <a:ext cx="5408676" cy="1463040"/>
          </a:xfrm>
          <a:prstGeom prst="roundRect">
            <a:avLst>
              <a:gd name="adj" fmla="val 8750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822959" y="4919472"/>
            <a:ext cx="182880" cy="182880"/>
          </a:xfrm>
          <a:prstGeom prst="ellipse">
            <a:avLst/>
          </a:prstGeom>
          <a:solidFill>
            <a:srgbClr val="AB5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143000" y="4818888"/>
            <a:ext cx="45399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1F5FF"/>
                </a:solidFill>
                <a:latin typeface="Calibri"/>
              </a:rPr>
              <a:t>HMM POS tagger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59" y="5257800"/>
            <a:ext cx="486003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A3AECF"/>
                </a:solidFill>
                <a:latin typeface="Calibri"/>
              </a:rPr>
              <a:t>Bigram HMM over 10 Universal POS tags, decoded with the Viterbi algorithm.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31636" y="4617720"/>
            <a:ext cx="5408676" cy="1463040"/>
          </a:xfrm>
          <a:prstGeom prst="roundRect">
            <a:avLst>
              <a:gd name="adj" fmla="val 8750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6505955" y="4919472"/>
            <a:ext cx="182880" cy="1828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825996" y="4818888"/>
            <a:ext cx="45399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1F5FF"/>
                </a:solidFill>
                <a:latin typeface="Calibri"/>
              </a:rPr>
              <a:t>POS-aware filter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05955" y="5257800"/>
            <a:ext cx="486003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A3AECF"/>
                </a:solidFill>
                <a:latin typeface="Calibri"/>
              </a:rPr>
              <a:t>Keep only next-word candidates whose tag matches the tag the HMM expects next.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mbient glow"/>
          <p:cNvSpPr/>
          <p:nvPr/>
        </p:nvSpPr>
        <p:spPr>
          <a:xfrm>
            <a:off x="9326880" y="-2011680"/>
            <a:ext cx="4206240" cy="4206240"/>
          </a:xfrm>
          <a:prstGeom prst="ellipse">
            <a:avLst/>
          </a:prstGeom>
          <a:solidFill>
            <a:srgbClr val="8B5CF6">
              <a:alpha val="22000"/>
            </a:srgbClr>
          </a:solidFill>
          <a:ln>
            <a:noFill/>
          </a:ln>
          <a:effectLst>
            <a:softEdge rad="1345996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Ambient glow"/>
          <p:cNvSpPr/>
          <p:nvPr/>
        </p:nvSpPr>
        <p:spPr>
          <a:xfrm>
            <a:off x="-1828800" y="4572000"/>
            <a:ext cx="3840480" cy="3840480"/>
          </a:xfrm>
          <a:prstGeom prst="ellipse">
            <a:avLst/>
          </a:prstGeom>
          <a:solidFill>
            <a:srgbClr val="5B8CFF">
              <a:alpha val="16000"/>
            </a:srgbClr>
          </a:solidFill>
          <a:ln>
            <a:noFill/>
          </a:ln>
          <a:effectLst>
            <a:softEdge rad="1228953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alibri"/>
              </a:rPr>
              <a:t>04 · DATA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F1F5FF"/>
                </a:solidFill>
                <a:latin typeface="Calibri"/>
              </a:rPr>
              <a:t>Dataset &amp; Experimental Setup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A3AECF"/>
                </a:solidFill>
                <a:latin typeface="Calibri"/>
              </a:rPr>
              <a:t>SyntaxSquad  ·  NLP-Based Intelligent Writing Assistant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3AECF"/>
                </a:solidFill>
                <a:latin typeface="Calibri"/>
              </a:rPr>
              <a:t>5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1572768"/>
            <a:ext cx="2011679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800" b="1" i="0">
                <a:solidFill>
                  <a:srgbClr val="5B8CFF"/>
                </a:solidFill>
                <a:latin typeface="Calibri"/>
              </a:rPr>
              <a:t>54,286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67712"/>
            <a:ext cx="201167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1F5FF"/>
                </a:solidFill>
                <a:latin typeface="Calibri"/>
              </a:rPr>
              <a:t>cleaned sentences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606040"/>
            <a:ext cx="201167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A3AECF"/>
                </a:solidFill>
                <a:latin typeface="Calibri"/>
              </a:rPr>
              <a:t>Brown Corpus (NLTK)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2424" y="146304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66744" y="1572768"/>
            <a:ext cx="2011679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800" b="1" i="0">
                <a:solidFill>
                  <a:srgbClr val="8B5CF6"/>
                </a:solidFill>
                <a:latin typeface="Calibri"/>
              </a:rPr>
              <a:t>24,891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2267712"/>
            <a:ext cx="201167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1F5FF"/>
                </a:solidFill>
                <a:latin typeface="Calibri"/>
              </a:rPr>
              <a:t>vocabulary 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2606040"/>
            <a:ext cx="201167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A3AECF"/>
                </a:solidFill>
                <a:latin typeface="Calibri"/>
              </a:rPr>
              <a:t>frequency ≥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146304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10527" y="1572768"/>
            <a:ext cx="2011679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800" b="1" i="0">
                <a:solidFill>
                  <a:srgbClr val="B455DA"/>
                </a:solidFill>
                <a:latin typeface="Calibri"/>
              </a:rPr>
              <a:t>54,270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2267712"/>
            <a:ext cx="201167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1F5FF"/>
                </a:solidFill>
                <a:latin typeface="Calibri"/>
              </a:rPr>
              <a:t>POS-tagged sentences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7" y="2606040"/>
            <a:ext cx="201167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A3AECF"/>
                </a:solidFill>
                <a:latin typeface="Calibri"/>
              </a:rPr>
              <a:t>10 Universal tags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9992" y="146304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54312" y="1572768"/>
            <a:ext cx="2011679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800" b="1" i="0">
                <a:solidFill>
                  <a:srgbClr val="EC4899"/>
                </a:solidFill>
                <a:latin typeface="Calibri"/>
              </a:rPr>
              <a:t>38,218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2" y="2267712"/>
            <a:ext cx="201167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1F5FF"/>
                </a:solidFill>
                <a:latin typeface="Calibri"/>
              </a:rPr>
              <a:t>real misspelling pairs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2606040"/>
            <a:ext cx="201167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A3AECF"/>
                </a:solidFill>
                <a:latin typeface="Calibri"/>
              </a:rPr>
              <a:t>Norvig corpus, 7,841 words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246120"/>
            <a:ext cx="11091672" cy="685800"/>
          </a:xfrm>
          <a:prstGeom prst="roundRect">
            <a:avLst>
              <a:gd name="adj" fmla="val 18666"/>
            </a:avLst>
          </a:prstGeom>
          <a:solidFill>
            <a:srgbClr val="2A1F4A"/>
          </a:solidFill>
          <a:ln w="9525">
            <a:solidFill>
              <a:srgbClr val="5B3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" y="324612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F472B6"/>
                </a:solidFill>
                <a:latin typeface="Calibri"/>
              </a:rPr>
              <a:t>Downloaded from:  </a:t>
            </a:r>
            <a:r>
              <a:rPr sz="1300" b="1" i="0">
                <a:solidFill>
                  <a:srgbClr val="F1F5FF"/>
                </a:solidFill>
                <a:latin typeface="Calibri"/>
              </a:rPr>
              <a:t>Brown Corpus </a:t>
            </a:r>
            <a:r>
              <a:rPr sz="1300" b="0" i="0">
                <a:solidFill>
                  <a:srgbClr val="A3AECF"/>
                </a:solidFill>
                <a:latin typeface="Calibri"/>
              </a:rPr>
              <a:t>— NLTK data (nltk.download('brown'), nltk.org/nltk_data)     </a:t>
            </a:r>
            <a:r>
              <a:rPr sz="1300" b="1" i="0">
                <a:solidFill>
                  <a:srgbClr val="F1F5FF"/>
                </a:solidFill>
                <a:latin typeface="Calibri"/>
              </a:rPr>
              <a:t>Misspellings </a:t>
            </a:r>
            <a:r>
              <a:rPr sz="1300" b="0" i="0">
                <a:solidFill>
                  <a:srgbClr val="A3AECF"/>
                </a:solidFill>
                <a:latin typeface="Calibri"/>
              </a:rPr>
              <a:t>— norvig.com/ngrams/spell-errors.txt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114800"/>
            <a:ext cx="5394960" cy="2011680"/>
          </a:xfrm>
          <a:prstGeom prst="roundRect">
            <a:avLst>
              <a:gd name="adj" fmla="val 6363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27939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F1F5FF"/>
                </a:solidFill>
                <a:latin typeface="Calibri"/>
              </a:rPr>
              <a:t>Preprocessing (Activity 1)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4754880"/>
            <a:ext cx="274320" cy="27432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" y="4754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1F5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3584" y="47548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1F5FF"/>
                </a:solidFill>
                <a:latin typeface="Calibri"/>
              </a:rPr>
              <a:t>Lowercase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5084064"/>
            <a:ext cx="274320" cy="27432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0840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1F5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43584" y="508406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1F5FF"/>
                </a:solidFill>
                <a:latin typeface="Calibri"/>
              </a:rPr>
              <a:t>Strip punctuation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" y="5413248"/>
            <a:ext cx="274320" cy="27432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2960" y="54132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1F5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43584" y="54132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1F5FF"/>
                </a:solidFill>
                <a:latin typeface="Calibri"/>
              </a:rPr>
              <a:t>Tokenize</a:t>
            </a:r>
          </a:p>
        </p:txBody>
      </p:sp>
      <p:sp>
        <p:nvSpPr>
          <p:cNvPr id="37" name="Oval 36"/>
          <p:cNvSpPr/>
          <p:nvPr/>
        </p:nvSpPr>
        <p:spPr>
          <a:xfrm>
            <a:off x="822960" y="5742432"/>
            <a:ext cx="274320" cy="27432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2960" y="57424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1F5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43584" y="57424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1F5FF"/>
                </a:solidFill>
                <a:latin typeface="Calibri"/>
              </a:rPr>
              <a:t>Length filter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114800"/>
            <a:ext cx="5422392" cy="2011680"/>
          </a:xfrm>
          <a:prstGeom prst="roundRect">
            <a:avLst>
              <a:gd name="adj" fmla="val 6363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92240" y="427939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F1F5FF"/>
                </a:solidFill>
                <a:latin typeface="Calibri"/>
              </a:rPr>
              <a:t>Experimental setup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4736592"/>
            <a:ext cx="4349800" cy="347472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5B8CFF"/>
              </a:gs>
              <a:gs pos="100000">
                <a:srgbClr val="8B5C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10915192" y="4736592"/>
            <a:ext cx="450799" cy="347472"/>
          </a:xfrm>
          <a:prstGeom prst="roundRect">
            <a:avLst>
              <a:gd name="adj" fmla="val 21052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629400" y="473659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F1F5FF"/>
                </a:solidFill>
                <a:latin typeface="Calibri"/>
              </a:rPr>
              <a:t>90% train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1206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A3AECF"/>
                </a:solidFill>
                <a:latin typeface="Calibri"/>
              </a:rPr>
              <a:t>seed 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5656" y="5120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1" i="0">
                <a:solidFill>
                  <a:srgbClr val="F472B6"/>
                </a:solidFill>
                <a:latin typeface="Calibri"/>
              </a:rPr>
              <a:t>10% test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468112"/>
            <a:ext cx="487375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A3AECF"/>
                </a:solidFill>
                <a:latin typeface="Calibri"/>
              </a:rPr>
              <a:t>Applied to all three datasets — every score is on unseen data.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1F5FF"/>
                </a:solidFill>
                <a:latin typeface="Calibri"/>
              </a:rPr>
              <a:t>Tools: </a:t>
            </a:r>
            <a:r>
              <a:rPr sz="1300" b="0" i="0">
                <a:solidFill>
                  <a:srgbClr val="A3AECF"/>
                </a:solidFill>
                <a:latin typeface="Calibri"/>
              </a:rPr>
              <a:t>Python 3.12 · Flask 3.1.3 · matplotlib · no GPU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mbient glow"/>
          <p:cNvSpPr/>
          <p:nvPr/>
        </p:nvSpPr>
        <p:spPr>
          <a:xfrm>
            <a:off x="9326880" y="-2011680"/>
            <a:ext cx="4206240" cy="4206240"/>
          </a:xfrm>
          <a:prstGeom prst="ellipse">
            <a:avLst/>
          </a:prstGeom>
          <a:solidFill>
            <a:srgbClr val="8B5CF6">
              <a:alpha val="22000"/>
            </a:srgbClr>
          </a:solidFill>
          <a:ln>
            <a:noFill/>
          </a:ln>
          <a:effectLst>
            <a:softEdge rad="1345996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Ambient glow"/>
          <p:cNvSpPr/>
          <p:nvPr/>
        </p:nvSpPr>
        <p:spPr>
          <a:xfrm>
            <a:off x="-1828800" y="4572000"/>
            <a:ext cx="3840480" cy="3840480"/>
          </a:xfrm>
          <a:prstGeom prst="ellipse">
            <a:avLst/>
          </a:prstGeom>
          <a:solidFill>
            <a:srgbClr val="5B8CFF">
              <a:alpha val="16000"/>
            </a:srgbClr>
          </a:solidFill>
          <a:ln>
            <a:noFill/>
          </a:ln>
          <a:effectLst>
            <a:softEdge rad="1228953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alibri"/>
              </a:rPr>
              <a:t>05 · RESULTS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F1F5FF"/>
                </a:solidFill>
                <a:latin typeface="Calibri"/>
              </a:rPr>
              <a:t>Results &amp; Evaluation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A3AECF"/>
                </a:solidFill>
                <a:latin typeface="Calibri"/>
              </a:rPr>
              <a:t>SyntaxSquad  ·  NLP-Based Intelligent Writing Assistant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3AECF"/>
                </a:solidFill>
                <a:latin typeface="Calibri"/>
              </a:rPr>
              <a:t>6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6766560" cy="4617720"/>
          </a:xfrm>
          <a:prstGeom prst="roundRect">
            <a:avLst>
              <a:gd name="adj" fmla="val 2772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F1F5FF"/>
                </a:solidFill>
                <a:latin typeface="Calibri"/>
              </a:rPr>
              <a:t>Accuracy on held-out test data</a:t>
            </a:r>
          </a:p>
        </p:txBody>
      </p:sp>
      <p:graphicFrame>
        <p:nvGraphicFramePr>
          <p:cNvPr id="10" name="Accuracy chart"/>
          <p:cNvGraphicFramePr>
            <a:graphicFrameLocks noGrp="1"/>
          </p:cNvGraphicFramePr>
          <p:nvPr/>
        </p:nvGraphicFramePr>
        <p:xfrm>
          <a:off x="731520" y="2148840"/>
          <a:ext cx="64008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589520" y="1508760"/>
            <a:ext cx="4050791" cy="1188720"/>
          </a:xfrm>
          <a:prstGeom prst="roundRect">
            <a:avLst>
              <a:gd name="adj" fmla="val 10769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63840" y="1645919"/>
            <a:ext cx="3502151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5B8CFF"/>
                </a:solidFill>
                <a:latin typeface="Calibri"/>
              </a:rPr>
              <a:t>5,596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258568"/>
            <a:ext cx="3502151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A3AECF"/>
                </a:solidFill>
                <a:latin typeface="Calibri"/>
              </a:rPr>
              <a:t>Bigram perplexity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880360"/>
            <a:ext cx="4050791" cy="1188720"/>
          </a:xfrm>
          <a:prstGeom prst="roundRect">
            <a:avLst>
              <a:gd name="adj" fmla="val 10769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63840" y="3017520"/>
            <a:ext cx="3502151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EC4899"/>
                </a:solidFill>
                <a:latin typeface="Calibri"/>
              </a:rPr>
              <a:t>13,641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630168"/>
            <a:ext cx="3502151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A3AECF"/>
                </a:solidFill>
                <a:latin typeface="Calibri"/>
              </a:rPr>
              <a:t>Trigram perplexity (with back-off)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297680"/>
            <a:ext cx="4050791" cy="1828800"/>
          </a:xfrm>
          <a:prstGeom prst="roundRect">
            <a:avLst>
              <a:gd name="adj" fmla="val 7000"/>
            </a:avLst>
          </a:prstGeom>
          <a:solidFill>
            <a:srgbClr val="2A1F4A"/>
          </a:solidFill>
          <a:ln w="9525">
            <a:solidFill>
              <a:srgbClr val="5B3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0" y="4462272"/>
            <a:ext cx="3502151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472B6"/>
                </a:solidFill>
                <a:latin typeface="Calibri"/>
              </a:rPr>
              <a:t>Why is trigram higher?  </a:t>
            </a:r>
            <a:r>
              <a:rPr sz="1300" b="0" i="0">
                <a:solidFill>
                  <a:srgbClr val="A3AECF"/>
                </a:solidFill>
                <a:latin typeface="Calibri"/>
              </a:rPr>
              <a:t>Laplace adds V ≈ 40K to every denominator, which swamps the sparse trigram counts.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1F5FF"/>
                </a:solidFill>
                <a:latin typeface="Calibri"/>
              </a:rPr>
              <a:t>193 of 500 </a:t>
            </a:r>
            <a:r>
              <a:rPr sz="1300" b="0" i="0">
                <a:solidFill>
                  <a:srgbClr val="A3AECF"/>
                </a:solidFill>
                <a:latin typeface="Calibri"/>
              </a:rPr>
              <a:t>real misspellings are 3+ edits away — out of reach by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mbient glow"/>
          <p:cNvSpPr/>
          <p:nvPr/>
        </p:nvSpPr>
        <p:spPr>
          <a:xfrm>
            <a:off x="9326880" y="-2011680"/>
            <a:ext cx="4206240" cy="4206240"/>
          </a:xfrm>
          <a:prstGeom prst="ellipse">
            <a:avLst/>
          </a:prstGeom>
          <a:solidFill>
            <a:srgbClr val="8B5CF6">
              <a:alpha val="22000"/>
            </a:srgbClr>
          </a:solidFill>
          <a:ln>
            <a:noFill/>
          </a:ln>
          <a:effectLst>
            <a:softEdge rad="1345996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Ambient glow"/>
          <p:cNvSpPr/>
          <p:nvPr/>
        </p:nvSpPr>
        <p:spPr>
          <a:xfrm>
            <a:off x="-1828800" y="4572000"/>
            <a:ext cx="3840480" cy="3840480"/>
          </a:xfrm>
          <a:prstGeom prst="ellipse">
            <a:avLst/>
          </a:prstGeom>
          <a:solidFill>
            <a:srgbClr val="5B8CFF">
              <a:alpha val="16000"/>
            </a:srgbClr>
          </a:solidFill>
          <a:ln>
            <a:noFill/>
          </a:ln>
          <a:effectLst>
            <a:softEdge rad="1228953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alibri"/>
              </a:rPr>
              <a:t>06 · OUTPUTS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F1F5FF"/>
                </a:solidFill>
                <a:latin typeface="Calibri"/>
              </a:rPr>
              <a:t>Confusion Matrix &amp; Live Output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A3AECF"/>
                </a:solidFill>
                <a:latin typeface="Calibri"/>
              </a:rPr>
              <a:t>SyntaxSquad  ·  NLP-Based Intelligent Writing Assistant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3AECF"/>
                </a:solidFill>
                <a:latin typeface="Calibri"/>
              </a:rPr>
              <a:t>7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5408676" cy="388620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OS confusion matrix" descr="pos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1600200"/>
            <a:ext cx="4320540" cy="3703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31636" y="1508760"/>
            <a:ext cx="5408676" cy="3886200"/>
          </a:xfrm>
          <a:prstGeom prst="roundRect">
            <a:avLst>
              <a:gd name="adj" fmla="val 3294"/>
            </a:avLst>
          </a:prstGeom>
          <a:solidFill>
            <a:srgbClr val="0E1428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App screenshot" descr="app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397" y="1600200"/>
            <a:ext cx="3619153" cy="370332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548640" y="5577840"/>
            <a:ext cx="365760" cy="36576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F1F5FF"/>
                </a:solidFill>
                <a:latin typeface="Calibri"/>
              </a:rPr>
              <a:t>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559552"/>
            <a:ext cx="486003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F1F5FF"/>
                </a:solidFill>
                <a:latin typeface="Calibri"/>
              </a:rPr>
              <a:t>POS tagger confusion matrix</a:t>
            </a:r>
          </a:p>
          <a:p>
            <a:pPr algn="l"/>
            <a:r>
              <a:rPr sz="1200" b="0" i="0">
                <a:solidFill>
                  <a:srgbClr val="A3AECF"/>
                </a:solidFill>
                <a:latin typeface="Calibri"/>
              </a:rPr>
              <a:t>Held-out set, strongly diagonal. Biggest confusions: NOUN → ADJ (83), DET (80), CONJ (72).</a:t>
            </a:r>
          </a:p>
        </p:txBody>
      </p:sp>
      <p:sp>
        <p:nvSpPr>
          <p:cNvPr id="15" name="Oval 14"/>
          <p:cNvSpPr/>
          <p:nvPr/>
        </p:nvSpPr>
        <p:spPr>
          <a:xfrm>
            <a:off x="6231636" y="5577840"/>
            <a:ext cx="365760" cy="36576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31636" y="5577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F1F5FF"/>
                </a:solidFill>
                <a:latin typeface="Calibri"/>
              </a:rP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4555" y="5559552"/>
            <a:ext cx="486003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F1F5FF"/>
                </a:solidFill>
                <a:latin typeface="Calibri"/>
              </a:rPr>
              <a:t>Live web app</a:t>
            </a:r>
          </a:p>
          <a:p>
            <a:pPr algn="l"/>
            <a:r>
              <a:rPr sz="1200" b="0" i="0">
                <a:solidFill>
                  <a:srgbClr val="A3AECF"/>
                </a:solidFill>
                <a:latin typeface="Calibri"/>
              </a:rPr>
              <a:t>3 typos fixed, every word tagged, next-word suggestions filtered to the expected tag.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mbient glow"/>
          <p:cNvSpPr/>
          <p:nvPr/>
        </p:nvSpPr>
        <p:spPr>
          <a:xfrm>
            <a:off x="9326880" y="-2011680"/>
            <a:ext cx="4206240" cy="4206240"/>
          </a:xfrm>
          <a:prstGeom prst="ellipse">
            <a:avLst/>
          </a:prstGeom>
          <a:solidFill>
            <a:srgbClr val="8B5CF6">
              <a:alpha val="22000"/>
            </a:srgbClr>
          </a:solidFill>
          <a:ln>
            <a:noFill/>
          </a:ln>
          <a:effectLst>
            <a:softEdge rad="1345996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Ambient glow"/>
          <p:cNvSpPr/>
          <p:nvPr/>
        </p:nvSpPr>
        <p:spPr>
          <a:xfrm>
            <a:off x="-1828800" y="4572000"/>
            <a:ext cx="3840480" cy="3840480"/>
          </a:xfrm>
          <a:prstGeom prst="ellipse">
            <a:avLst/>
          </a:prstGeom>
          <a:solidFill>
            <a:srgbClr val="5B8CFF">
              <a:alpha val="16000"/>
            </a:srgbClr>
          </a:solidFill>
          <a:ln>
            <a:noFill/>
          </a:ln>
          <a:effectLst>
            <a:softEdge rad="1228953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alibri"/>
              </a:rPr>
              <a:t>07 · ERROR ANALYSIS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F1F5FF"/>
                </a:solidFill>
                <a:latin typeface="Calibri"/>
              </a:rPr>
              <a:t>Error Analysis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A3AECF"/>
                </a:solidFill>
                <a:latin typeface="Calibri"/>
              </a:rPr>
              <a:t>SyntaxSquad  ·  NLP-Based Intelligent Writing Assistant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3AECF"/>
                </a:solidFill>
                <a:latin typeface="Calibri"/>
              </a:rPr>
              <a:t>8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5394960" cy="4617720"/>
          </a:xfrm>
          <a:prstGeom prst="roundRect">
            <a:avLst>
              <a:gd name="adj" fmla="val 2772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1F5FF"/>
                </a:solidFill>
                <a:latin typeface="Calibri"/>
              </a:rPr>
              <a:t>Why the 48 synthetic-typo misses happened</a:t>
            </a:r>
          </a:p>
        </p:txBody>
      </p:sp>
      <p:graphicFrame>
        <p:nvGraphicFramePr>
          <p:cNvPr id="10" name="Error donut"/>
          <p:cNvGraphicFramePr>
            <a:graphicFrameLocks noGrp="1"/>
          </p:cNvGraphicFramePr>
          <p:nvPr/>
        </p:nvGraphicFramePr>
        <p:xfrm>
          <a:off x="731520" y="2194560"/>
          <a:ext cx="210312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29260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000" b="1" i="0">
                <a:solidFill>
                  <a:srgbClr val="F1F5FF"/>
                </a:solidFill>
                <a:latin typeface="Calibri"/>
              </a:rP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A3AECF"/>
                </a:solidFill>
                <a:latin typeface="Calibri"/>
              </a:rPr>
              <a:t>misses</a:t>
            </a:r>
          </a:p>
        </p:txBody>
      </p:sp>
      <p:sp>
        <p:nvSpPr>
          <p:cNvPr id="13" name="Oval 12"/>
          <p:cNvSpPr/>
          <p:nvPr/>
        </p:nvSpPr>
        <p:spPr>
          <a:xfrm>
            <a:off x="3063240" y="2377440"/>
            <a:ext cx="164592" cy="164592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37560" y="2286000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5B8CFF"/>
                </a:solidFill>
                <a:latin typeface="Calibri"/>
              </a:rPr>
              <a:t>23  </a:t>
            </a:r>
            <a:r>
              <a:rPr sz="1300" b="0" i="0">
                <a:solidFill>
                  <a:srgbClr val="F1F5FF"/>
                </a:solidFill>
                <a:latin typeface="Calibri"/>
              </a:rPr>
              <a:t>ED-2 word beat ED-1</a:t>
            </a:r>
          </a:p>
        </p:txBody>
      </p:sp>
      <p:sp>
        <p:nvSpPr>
          <p:cNvPr id="15" name="Oval 14"/>
          <p:cNvSpPr/>
          <p:nvPr/>
        </p:nvSpPr>
        <p:spPr>
          <a:xfrm>
            <a:off x="3063240" y="2880360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337560" y="2788920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  <a:latin typeface="Calibri"/>
              </a:rPr>
              <a:t>11  </a:t>
            </a:r>
            <a:r>
              <a:rPr sz="1300" b="0" i="0">
                <a:solidFill>
                  <a:srgbClr val="F1F5FF"/>
                </a:solidFill>
                <a:latin typeface="Calibri"/>
              </a:rPr>
              <a:t>Other ED-1 word won</a:t>
            </a:r>
          </a:p>
        </p:txBody>
      </p:sp>
      <p:sp>
        <p:nvSpPr>
          <p:cNvPr id="17" name="Oval 16"/>
          <p:cNvSpPr/>
          <p:nvPr/>
        </p:nvSpPr>
        <p:spPr>
          <a:xfrm>
            <a:off x="3063240" y="3383280"/>
            <a:ext cx="164592" cy="164592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337560" y="3291840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  <a:latin typeface="Calibri"/>
              </a:rPr>
              <a:t>9  </a:t>
            </a:r>
            <a:r>
              <a:rPr sz="1300" b="0" i="0">
                <a:solidFill>
                  <a:srgbClr val="F1F5FF"/>
                </a:solidFill>
                <a:latin typeface="Calibri"/>
              </a:rPr>
              <a:t>Real-word typo</a:t>
            </a:r>
          </a:p>
        </p:txBody>
      </p:sp>
      <p:sp>
        <p:nvSpPr>
          <p:cNvPr id="19" name="Oval 18"/>
          <p:cNvSpPr/>
          <p:nvPr/>
        </p:nvSpPr>
        <p:spPr>
          <a:xfrm>
            <a:off x="3063240" y="3886200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337560" y="3794760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Calibri"/>
              </a:rPr>
              <a:t>5  </a:t>
            </a:r>
            <a:r>
              <a:rPr sz="1300" b="0" i="0">
                <a:solidFill>
                  <a:srgbClr val="F1F5FF"/>
                </a:solidFill>
                <a:latin typeface="Calibri"/>
              </a:rPr>
              <a:t>Not in vocabulary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572000"/>
            <a:ext cx="4846320" cy="1143000"/>
          </a:xfrm>
          <a:prstGeom prst="roundRect">
            <a:avLst>
              <a:gd name="adj" fmla="val 11200"/>
            </a:avLst>
          </a:prstGeom>
          <a:solidFill>
            <a:srgbClr val="1B2445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51560" y="470916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1F5FF"/>
                </a:solidFill>
                <a:latin typeface="Calibri"/>
              </a:rPr>
              <a:t>haed → “and”, not “head”: </a:t>
            </a:r>
            <a:r>
              <a:rPr sz="1200" b="0" i="0">
                <a:solidFill>
                  <a:srgbClr val="A3AECF"/>
                </a:solidFill>
                <a:latin typeface="Calibri"/>
              </a:rPr>
              <a:t>a very common word 2 edits away outranks the right word 1 edit away.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1F5FF"/>
                </a:solidFill>
                <a:latin typeface="Calibri"/>
              </a:rPr>
              <a:t>will → gill: </a:t>
            </a:r>
            <a:r>
              <a:rPr sz="1200" b="0" i="0">
                <a:solidFill>
                  <a:srgbClr val="A3AECF"/>
                </a:solidFill>
                <a:latin typeface="Calibri"/>
              </a:rPr>
              <a:t>a real word, so words corrected in isolation never flag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508760"/>
            <a:ext cx="5422392" cy="1417320"/>
          </a:xfrm>
          <a:prstGeom prst="roundRect">
            <a:avLst>
              <a:gd name="adj" fmla="val 9032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0" y="1691639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34D399"/>
                </a:solidFill>
                <a:latin typeface="Calibri"/>
              </a:rPr>
              <a:t>Fixed during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075688"/>
            <a:ext cx="487375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A3AECF"/>
                </a:solidFill>
                <a:latin typeface="Calibri"/>
              </a:rPr>
              <a:t>“ovr” used to give “or” and “wht” gave “who” — both now give “over” and “what”, thanks to the learned confusion matrix. Single-letter “I” → “in” also fixed.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108960"/>
            <a:ext cx="5422392" cy="1417320"/>
          </a:xfrm>
          <a:prstGeom prst="roundRect">
            <a:avLst>
              <a:gd name="adj" fmla="val 9032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0" y="3291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BBF24"/>
                </a:solidFill>
                <a:latin typeface="Calibri"/>
              </a:rPr>
              <a:t>POS confusions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675887"/>
            <a:ext cx="487375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A3AECF"/>
                </a:solidFill>
                <a:latin typeface="Calibri"/>
              </a:rPr>
              <a:t>NOUN mix-ups on ambiguous words like “that” — a bigram HMM only sees one previous tag.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709160"/>
            <a:ext cx="5422392" cy="1417320"/>
          </a:xfrm>
          <a:prstGeom prst="roundRect">
            <a:avLst>
              <a:gd name="adj" fmla="val 9032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92240" y="48920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472B6"/>
                </a:solidFill>
                <a:latin typeface="Calibri"/>
              </a:rPr>
              <a:t>Next fixes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276088"/>
            <a:ext cx="487375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A3AECF"/>
                </a:solidFill>
                <a:latin typeface="Calibri"/>
              </a:rPr>
              <a:t>Prefer 1-edit candidates · rank spelling in context · Kneser-Ney smoothing · trigram HMM.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mbient glow"/>
          <p:cNvSpPr/>
          <p:nvPr/>
        </p:nvSpPr>
        <p:spPr>
          <a:xfrm>
            <a:off x="9326880" y="-2011680"/>
            <a:ext cx="4206240" cy="4206240"/>
          </a:xfrm>
          <a:prstGeom prst="ellipse">
            <a:avLst/>
          </a:prstGeom>
          <a:solidFill>
            <a:srgbClr val="8B5CF6">
              <a:alpha val="22000"/>
            </a:srgbClr>
          </a:solidFill>
          <a:ln>
            <a:noFill/>
          </a:ln>
          <a:effectLst>
            <a:softEdge rad="1345996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Ambient glow"/>
          <p:cNvSpPr/>
          <p:nvPr/>
        </p:nvSpPr>
        <p:spPr>
          <a:xfrm>
            <a:off x="-1828800" y="4572000"/>
            <a:ext cx="3840480" cy="3840480"/>
          </a:xfrm>
          <a:prstGeom prst="ellipse">
            <a:avLst/>
          </a:prstGeom>
          <a:solidFill>
            <a:srgbClr val="5B8CFF">
              <a:alpha val="16000"/>
            </a:srgbClr>
          </a:solidFill>
          <a:ln>
            <a:noFill/>
          </a:ln>
          <a:effectLst>
            <a:softEdge rad="1228953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alibri"/>
              </a:rPr>
              <a:t>08 · PROJECT PROOF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F1F5FF"/>
                </a:solidFill>
                <a:latin typeface="Calibri"/>
              </a:rPr>
              <a:t>Project Proof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A3AECF"/>
                </a:solidFill>
                <a:latin typeface="Calibri"/>
              </a:rPr>
              <a:t>SyntaxSquad  ·  NLP-Based Intelligent Writing Assistant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3AECF"/>
                </a:solidFill>
                <a:latin typeface="Calibri"/>
              </a:rPr>
              <a:t>9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6675120" cy="1143000"/>
          </a:xfrm>
          <a:prstGeom prst="roundRect">
            <a:avLst>
              <a:gd name="adj" fmla="val 11200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1F5FF"/>
                </a:solidFill>
                <a:latin typeface="Calibri"/>
              </a:rPr>
              <a:t>&lt;/&gt;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9164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A3AECF"/>
                </a:solidFill>
                <a:latin typeface="Calibri"/>
              </a:rPr>
              <a:t>Source code on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1168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F1F5FF"/>
                </a:solidFill>
                <a:latin typeface="Calibri"/>
              </a:rPr>
              <a:t>github.com/AnoonMR/Writing-Assistant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80360"/>
            <a:ext cx="6675120" cy="2377440"/>
          </a:xfrm>
          <a:prstGeom prst="roundRect">
            <a:avLst>
              <a:gd name="adj" fmla="val 5384"/>
            </a:avLst>
          </a:prstGeom>
          <a:solidFill>
            <a:srgbClr val="070B16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77240" y="3063240"/>
            <a:ext cx="128016" cy="128016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005840" y="3063240"/>
            <a:ext cx="128016" cy="12801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234440" y="3063240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383280"/>
            <a:ext cx="6217920" cy="1783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72B6"/>
                </a:solidFill>
                <a:latin typeface="Consolas"/>
              </a:rPr>
              <a:t>$ </a:t>
            </a:r>
            <a:r>
              <a:rPr sz="1400" b="0" i="0">
                <a:solidFill>
                  <a:srgbClr val="F1F5FF"/>
                </a:solidFill>
                <a:latin typeface="Consolas"/>
              </a:rPr>
              <a:t>pip install -r requirements.txt</a:t>
            </a:r>
            <a:r>
              <a:rPr sz="1400" b="0" i="0">
                <a:solidFill>
                  <a:srgbClr val="6B7799"/>
                </a:solidFill>
                <a:latin typeface="Consola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72B6"/>
                </a:solidFill>
                <a:latin typeface="Consolas"/>
              </a:rPr>
              <a:t>$ </a:t>
            </a:r>
            <a:r>
              <a:rPr sz="1400" b="0" i="0">
                <a:solidFill>
                  <a:srgbClr val="F1F5FF"/>
                </a:solidFill>
                <a:latin typeface="Consolas"/>
              </a:rPr>
              <a:t>cd src</a:t>
            </a:r>
            <a:r>
              <a:rPr sz="1400" b="0" i="0">
                <a:solidFill>
                  <a:srgbClr val="6B7799"/>
                </a:solidFill>
                <a:latin typeface="Consola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72B6"/>
                </a:solidFill>
                <a:latin typeface="Consolas"/>
              </a:rPr>
              <a:t>$ </a:t>
            </a:r>
            <a:r>
              <a:rPr sz="1400" b="0" i="0">
                <a:solidFill>
                  <a:srgbClr val="F1F5FF"/>
                </a:solidFill>
                <a:latin typeface="Consolas"/>
              </a:rPr>
              <a:t>python app.py</a:t>
            </a:r>
            <a:r>
              <a:rPr sz="1400" b="0" i="0">
                <a:solidFill>
                  <a:srgbClr val="6B7799"/>
                </a:solidFill>
                <a:latin typeface="Consola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34D399"/>
                </a:solidFill>
                <a:latin typeface="Consolas"/>
              </a:rPr>
              <a:t>→ open http://127.0.0.1:5000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72B6"/>
                </a:solidFill>
                <a:latin typeface="Consolas"/>
              </a:rPr>
              <a:t>$ </a:t>
            </a:r>
            <a:r>
              <a:rPr sz="1400" b="0" i="0">
                <a:solidFill>
                  <a:srgbClr val="F1F5FF"/>
                </a:solidFill>
                <a:latin typeface="Consolas"/>
              </a:rPr>
              <a:t>python evaluate.py</a:t>
            </a:r>
            <a:r>
              <a:rPr sz="1400" b="0" i="0">
                <a:solidFill>
                  <a:srgbClr val="6B7799"/>
                </a:solidFill>
                <a:latin typeface="Consolas"/>
              </a:rPr>
              <a:t>   # reproduce every metric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86400"/>
            <a:ext cx="6675120" cy="640080"/>
          </a:xfrm>
          <a:prstGeom prst="roundRect">
            <a:avLst>
              <a:gd name="adj" fmla="val 20000"/>
            </a:avLst>
          </a:prstGeom>
          <a:solidFill>
            <a:srgbClr val="2A1F4A"/>
          </a:solidFill>
          <a:ln w="9525">
            <a:solidFill>
              <a:srgbClr val="5B3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F472B6"/>
                </a:solidFill>
                <a:latin typeface="Calibri"/>
              </a:rPr>
              <a:t>Not publicly hosted — </a:t>
            </a:r>
            <a:r>
              <a:rPr sz="1300" b="0" i="0">
                <a:solidFill>
                  <a:srgbClr val="F1F5FF"/>
                </a:solidFill>
                <a:latin typeface="Calibri"/>
              </a:rPr>
              <a:t>runs on localhost, fully offline once the data is downloaded.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508760"/>
            <a:ext cx="4142232" cy="4617720"/>
          </a:xfrm>
          <a:prstGeom prst="roundRect">
            <a:avLst>
              <a:gd name="adj" fmla="val 3090"/>
            </a:avLst>
          </a:prstGeom>
          <a:solidFill>
            <a:srgbClr val="0E1428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App screenshot" descr="app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91905"/>
            <a:ext cx="3959352" cy="40514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mbient glow"/>
          <p:cNvSpPr/>
          <p:nvPr/>
        </p:nvSpPr>
        <p:spPr>
          <a:xfrm>
            <a:off x="7589520" y="-2377440"/>
            <a:ext cx="5852160" cy="5852160"/>
          </a:xfrm>
          <a:prstGeom prst="ellipse">
            <a:avLst/>
          </a:prstGeom>
          <a:solidFill>
            <a:srgbClr val="8B5CF6">
              <a:alpha val="30000"/>
            </a:srgbClr>
          </a:solidFill>
          <a:ln>
            <a:noFill/>
          </a:ln>
          <a:effectLst>
            <a:softEdge rad="1872691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Ambient glow"/>
          <p:cNvSpPr/>
          <p:nvPr/>
        </p:nvSpPr>
        <p:spPr>
          <a:xfrm>
            <a:off x="-2194560" y="3474720"/>
            <a:ext cx="5120640" cy="5120640"/>
          </a:xfrm>
          <a:prstGeom prst="ellipse">
            <a:avLst/>
          </a:prstGeom>
          <a:solidFill>
            <a:srgbClr val="5B8CFF">
              <a:alpha val="24000"/>
            </a:srgbClr>
          </a:solidFill>
          <a:ln>
            <a:noFill/>
          </a:ln>
          <a:effectLst>
            <a:softEdge rad="1638604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Ambient glow"/>
          <p:cNvSpPr/>
          <p:nvPr/>
        </p:nvSpPr>
        <p:spPr>
          <a:xfrm>
            <a:off x="4572000" y="5120640"/>
            <a:ext cx="3657600" cy="3657600"/>
          </a:xfrm>
          <a:prstGeom prst="ellipse">
            <a:avLst/>
          </a:prstGeom>
          <a:solidFill>
            <a:srgbClr val="EC4899">
              <a:alpha val="16000"/>
            </a:srgbClr>
          </a:solidFill>
          <a:ln>
            <a:noFill/>
          </a:ln>
          <a:effectLst>
            <a:softEdge rad="1170432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Eyebrow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alibri"/>
              </a:rPr>
              <a:t>09 · CONCLUSION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F1F5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A3AECF"/>
                </a:solidFill>
                <a:latin typeface="Calibri"/>
              </a:rPr>
              <a:t>SyntaxSquad  ·  NLP-Based Intelligent Writing Assistant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3AECF"/>
                </a:solidFill>
                <a:latin typeface="Calibri"/>
              </a:rP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520440" cy="2331720"/>
          </a:xfrm>
          <a:prstGeom prst="roundRect">
            <a:avLst>
              <a:gd name="adj" fmla="val 5490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59" y="169164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200" b="1" i="0">
                <a:solidFill>
                  <a:srgbClr val="5B8CFF"/>
                </a:solidFill>
                <a:latin typeface="Calibri"/>
              </a:rPr>
              <a:t>5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688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1F5FF"/>
                </a:solidFill>
                <a:latin typeface="Calibri"/>
              </a:rPr>
              <a:t>modules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880360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A3AECF"/>
                </a:solidFill>
                <a:latin typeface="Calibri"/>
              </a:rPr>
              <a:t>At full proposal scope, integrated in one live web app and evaluated on held-out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08760"/>
            <a:ext cx="3520440" cy="2331720"/>
          </a:xfrm>
          <a:prstGeom prst="roundRect">
            <a:avLst>
              <a:gd name="adj" fmla="val 5490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17720" y="169164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200" b="1" i="0">
                <a:solidFill>
                  <a:srgbClr val="8B5CF6"/>
                </a:solidFill>
                <a:latin typeface="Calibri"/>
              </a:rPr>
              <a:t>91.74%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688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1F5FF"/>
                </a:solidFill>
                <a:latin typeface="Calibri"/>
              </a:rPr>
              <a:t>POS tagging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880360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A3AECF"/>
                </a:solidFill>
                <a:latin typeface="Calibri"/>
              </a:rPr>
              <a:t>Spelling: 76.00% on synthetic typos and 61.9% on real misspellings within reach — all from scratch.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520440" cy="2331720"/>
          </a:xfrm>
          <a:prstGeom prst="roundRect">
            <a:avLst>
              <a:gd name="adj" fmla="val 5490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80" y="169164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200" b="1" i="0">
                <a:solidFill>
                  <a:srgbClr val="EC4899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4688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1F5FF"/>
                </a:solidFill>
                <a:latin typeface="Calibri"/>
              </a:rPr>
              <a:t>weak spots, all diagnosed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880360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A3AECF"/>
                </a:solidFill>
                <a:latin typeface="Calibri"/>
              </a:rPr>
              <a:t>Each has a measured cause: frequency bias at edit distance 2, out-of-range misspellings, Laplace smoothing.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F1F5FF"/>
                </a:solidFill>
                <a:latin typeface="Calibri"/>
              </a:rPr>
              <a:t>Future 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09160"/>
            <a:ext cx="2057400" cy="777240"/>
          </a:xfrm>
          <a:prstGeom prst="roundRect">
            <a:avLst>
              <a:gd name="adj" fmla="val 35294"/>
            </a:avLst>
          </a:prstGeom>
          <a:solidFill>
            <a:srgbClr val="1B2445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4709160"/>
            <a:ext cx="20574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1F5FF"/>
                </a:solidFill>
                <a:latin typeface="Calibri"/>
              </a:rPr>
              <a:t>Prefer 1-edit candidates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07208" y="4709160"/>
            <a:ext cx="2057400" cy="777240"/>
          </a:xfrm>
          <a:prstGeom prst="roundRect">
            <a:avLst>
              <a:gd name="adj" fmla="val 35294"/>
            </a:avLst>
          </a:prstGeom>
          <a:solidFill>
            <a:srgbClr val="1B2445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807208" y="4709160"/>
            <a:ext cx="20574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1F5FF"/>
                </a:solidFill>
                <a:latin typeface="Calibri"/>
              </a:rPr>
              <a:t>Context-aware spelling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5776" y="4709160"/>
            <a:ext cx="2057400" cy="777240"/>
          </a:xfrm>
          <a:prstGeom prst="roundRect">
            <a:avLst>
              <a:gd name="adj" fmla="val 35294"/>
            </a:avLst>
          </a:prstGeom>
          <a:solidFill>
            <a:srgbClr val="1B2445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065776" y="4709160"/>
            <a:ext cx="20574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1F5FF"/>
                </a:solidFill>
                <a:latin typeface="Calibri"/>
              </a:rPr>
              <a:t>Kneser-Ney smoothing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24344" y="4709160"/>
            <a:ext cx="2057400" cy="777240"/>
          </a:xfrm>
          <a:prstGeom prst="roundRect">
            <a:avLst>
              <a:gd name="adj" fmla="val 35294"/>
            </a:avLst>
          </a:prstGeom>
          <a:solidFill>
            <a:srgbClr val="1B2445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24344" y="4709160"/>
            <a:ext cx="20574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1F5FF"/>
                </a:solidFill>
                <a:latin typeface="Calibri"/>
              </a:rPr>
              <a:t>Trigram HMM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82912" y="4709160"/>
            <a:ext cx="2057400" cy="777240"/>
          </a:xfrm>
          <a:prstGeom prst="roundRect">
            <a:avLst>
              <a:gd name="adj" fmla="val 35294"/>
            </a:avLst>
          </a:prstGeom>
          <a:solidFill>
            <a:srgbClr val="1B2445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582912" y="4709160"/>
            <a:ext cx="20574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1F5FF"/>
                </a:solidFill>
                <a:latin typeface="Calibri"/>
              </a:rPr>
              <a:t>Optional hosting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mbient glow"/>
          <p:cNvSpPr/>
          <p:nvPr/>
        </p:nvSpPr>
        <p:spPr>
          <a:xfrm>
            <a:off x="9326880" y="-2011680"/>
            <a:ext cx="4206240" cy="4206240"/>
          </a:xfrm>
          <a:prstGeom prst="ellipse">
            <a:avLst/>
          </a:prstGeom>
          <a:solidFill>
            <a:srgbClr val="8B5CF6">
              <a:alpha val="22000"/>
            </a:srgbClr>
          </a:solidFill>
          <a:ln>
            <a:noFill/>
          </a:ln>
          <a:effectLst>
            <a:softEdge rad="1345996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Ambient glow"/>
          <p:cNvSpPr/>
          <p:nvPr/>
        </p:nvSpPr>
        <p:spPr>
          <a:xfrm>
            <a:off x="-1828800" y="4572000"/>
            <a:ext cx="3840480" cy="3840480"/>
          </a:xfrm>
          <a:prstGeom prst="ellipse">
            <a:avLst/>
          </a:prstGeom>
          <a:solidFill>
            <a:srgbClr val="5B8CFF">
              <a:alpha val="16000"/>
            </a:srgbClr>
          </a:solidFill>
          <a:ln>
            <a:noFill/>
          </a:ln>
          <a:effectLst>
            <a:softEdge rad="1228953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alibri"/>
              </a:rPr>
              <a:t>10 · ACKNOWLEDGEMENT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F1F5FF"/>
                </a:solidFill>
                <a:latin typeface="Calibri"/>
              </a:rPr>
              <a:t>AI Usage Acknowledgement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A3AECF"/>
                </a:solidFill>
                <a:latin typeface="Calibri"/>
              </a:rPr>
              <a:t>SyntaxSquad  ·  NLP-Based Intelligent Writing Assistant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3AECF"/>
                </a:solidFill>
                <a:latin typeface="Calibri"/>
              </a:rPr>
              <a:t>11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011680"/>
            <a:ext cx="9262872" cy="2651760"/>
          </a:xfrm>
          <a:prstGeom prst="roundRect">
            <a:avLst>
              <a:gd name="adj" fmla="val 8620"/>
            </a:avLst>
          </a:prstGeom>
          <a:solidFill>
            <a:srgbClr val="141B33"/>
          </a:solidFill>
          <a:ln w="9525">
            <a:solidFill>
              <a:srgbClr val="2B3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682996" y="2331720"/>
            <a:ext cx="822960" cy="82296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82996" y="23317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1F5FF"/>
                </a:solidFill>
                <a:latin typeface="Calibri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383280"/>
            <a:ext cx="8165592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2000" b="0" i="0">
                <a:solidFill>
                  <a:srgbClr val="F1F5FF"/>
                </a:solidFill>
                <a:latin typeface="Calibri"/>
              </a:rPr>
              <a:t>This project was developed with the assistance of Claude (Anthropic), an AI tool, which was used for code implementation and debugging.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mbient glow"/>
          <p:cNvSpPr/>
          <p:nvPr/>
        </p:nvSpPr>
        <p:spPr>
          <a:xfrm>
            <a:off x="9326880" y="-2011680"/>
            <a:ext cx="4206240" cy="4206240"/>
          </a:xfrm>
          <a:prstGeom prst="ellipse">
            <a:avLst/>
          </a:prstGeom>
          <a:solidFill>
            <a:srgbClr val="8B5CF6">
              <a:alpha val="22000"/>
            </a:srgbClr>
          </a:solidFill>
          <a:ln>
            <a:noFill/>
          </a:ln>
          <a:effectLst>
            <a:softEdge rad="1345996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Ambient glow"/>
          <p:cNvSpPr/>
          <p:nvPr/>
        </p:nvSpPr>
        <p:spPr>
          <a:xfrm>
            <a:off x="-1828800" y="4572000"/>
            <a:ext cx="3840480" cy="3840480"/>
          </a:xfrm>
          <a:prstGeom prst="ellipse">
            <a:avLst/>
          </a:prstGeom>
          <a:solidFill>
            <a:srgbClr val="5B8CFF">
              <a:alpha val="16000"/>
            </a:srgbClr>
          </a:solidFill>
          <a:ln>
            <a:noFill/>
          </a:ln>
          <a:effectLst>
            <a:softEdge rad="1228953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alibri"/>
              </a:rPr>
              <a:t>11 · REFERENCES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F1F5FF"/>
                </a:solidFill>
                <a:latin typeface="Calibri"/>
              </a:rPr>
              <a:t>References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A3AECF"/>
                </a:solidFill>
                <a:latin typeface="Calibri"/>
              </a:rPr>
              <a:t>SyntaxSquad  ·  NLP-Based Intelligent Writing Assistant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3AECF"/>
                </a:solidFill>
                <a:latin typeface="Calibri"/>
              </a:rPr>
              <a:t>12 / 12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600200"/>
            <a:ext cx="365760" cy="36576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F1F5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54480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A3AECF"/>
                </a:solidFill>
                <a:latin typeface="Calibri"/>
              </a:rPr>
              <a:t>Damerau, F. J. (1964). A technique for computer detection and correction of spelling errors. CACM, 7(3).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F1F5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68880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A3AECF"/>
                </a:solidFill>
                <a:latin typeface="Calibri"/>
              </a:rPr>
              <a:t>Kernighan, M. D., Church, K. W., &amp; Gale, W. A. (1990). A spelling correction program based on a noisy channel model. COLING.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F1F5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83280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A3AECF"/>
                </a:solidFill>
                <a:latin typeface="Calibri"/>
              </a:rPr>
              <a:t>Katz, S. M. (1987). Estimation of probabilities from sparse data... IEEE Trans. ASSP, 35(3).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343400"/>
            <a:ext cx="365760" cy="36576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F1F5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A3AECF"/>
                </a:solidFill>
                <a:latin typeface="Calibri"/>
              </a:rPr>
              <a:t>Brown, P. F. et al. (1992). Class-based n-gram models of natural language. Computational Linguistics, 18(4).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257800"/>
            <a:ext cx="365760" cy="36576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5257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F1F5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12080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A3AECF"/>
                </a:solidFill>
                <a:latin typeface="Calibri"/>
              </a:rPr>
              <a:t>Chen, S. F., &amp; Goodman, J. (1999). An empirical study of smoothing techniques for language modeling. CSL, 13(4).</a:t>
            </a:r>
          </a:p>
        </p:txBody>
      </p:sp>
      <p:sp>
        <p:nvSpPr>
          <p:cNvPr id="23" name="Oval 22"/>
          <p:cNvSpPr/>
          <p:nvPr/>
        </p:nvSpPr>
        <p:spPr>
          <a:xfrm>
            <a:off x="6231636" y="1600200"/>
            <a:ext cx="365760" cy="36576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31636" y="1600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F1F5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0275" y="1554480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A3AECF"/>
                </a:solidFill>
                <a:latin typeface="Calibri"/>
              </a:rPr>
              <a:t>Church, K. W. (1988). A stochastic parts program and noun phrase parser for unrestricted text. ANLP.</a:t>
            </a:r>
          </a:p>
        </p:txBody>
      </p:sp>
      <p:sp>
        <p:nvSpPr>
          <p:cNvPr id="26" name="Oval 25"/>
          <p:cNvSpPr/>
          <p:nvPr/>
        </p:nvSpPr>
        <p:spPr>
          <a:xfrm>
            <a:off x="6231636" y="2514600"/>
            <a:ext cx="365760" cy="36576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31636" y="2514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F1F5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0275" y="2468880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A3AECF"/>
                </a:solidFill>
                <a:latin typeface="Calibri"/>
              </a:rPr>
              <a:t>Viterbi, A. J. (1967). Error bounds for convolutional codes... IEEE Trans. Information Theory, 13(2).</a:t>
            </a:r>
          </a:p>
        </p:txBody>
      </p:sp>
      <p:sp>
        <p:nvSpPr>
          <p:cNvPr id="29" name="Oval 28"/>
          <p:cNvSpPr/>
          <p:nvPr/>
        </p:nvSpPr>
        <p:spPr>
          <a:xfrm>
            <a:off x="6231636" y="3429000"/>
            <a:ext cx="365760" cy="36576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31636" y="3429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F1F5FF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0275" y="3383280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A3AECF"/>
                </a:solidFill>
                <a:latin typeface="Calibri"/>
              </a:rPr>
              <a:t>Norvig, P. (2009). Natural language corpus data. In Beautiful Data, O'Reilly, 219–242.</a:t>
            </a:r>
          </a:p>
        </p:txBody>
      </p:sp>
      <p:sp>
        <p:nvSpPr>
          <p:cNvPr id="32" name="Oval 31"/>
          <p:cNvSpPr/>
          <p:nvPr/>
        </p:nvSpPr>
        <p:spPr>
          <a:xfrm>
            <a:off x="6231636" y="4343400"/>
            <a:ext cx="365760" cy="365760"/>
          </a:xfrm>
          <a:prstGeom prst="ellipse">
            <a:avLst/>
          </a:prstGeom>
          <a:gradFill rotWithShape="1">
            <a:gsLst>
              <a:gs pos="0">
                <a:srgbClr val="5B8CFF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31636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F1F5FF"/>
                </a:solidFill>
                <a:latin typeface="Calibr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0275" y="4297680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A3AECF"/>
                </a:solidFill>
                <a:latin typeface="Calibri"/>
              </a:rPr>
              <a:t>Brants, T. (2000). TnT — A statistical part-of-speech tagger. ANLP.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NLP-Based Intelligent Writing Assistant</dc:title>
  <dc:subject/>
  <dc:creator>SyntaxSquad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